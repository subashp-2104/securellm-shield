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Today we are presenting our project titled SecureLLM Shield, an AI security gateway designed to protect sensitive enterprise data and defend Large Language Models from privacy threats.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is prepared by Barathkumar M and Subash P. Barathkumar handled the security pipeline and PII detection algorithms, while Subash built the Python Flask backend and the interactive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simple terms, SecureLLM Shield acts as a protective shield between users and AI models like ChatGPT. It ensures no secret or personal data leaks out while asking questions to 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problem today is that users unknowingly share personal data like Aadhaar, passwords, or financial details with AI tools. Existing filters fail to catch these Indian identity formats, creating high security risks.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 is to build a smart sanitizer that hides personal details while keeping the text understandable for AI. We also calculate real-time risk scores and block hacker attacks.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security systems either block everything using basic keyword matching or erase full words, which makes the AI answer useless. They also don't recognize Indian identity formats.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system solves these issues by using a hybrid pipeline. It masks only the secret parts of numbers—like showing only the last 4 digits of Aadhaar—so the AI still understands the context.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Architecture. The user prompt goes first into our gateway. The gateway scans, masks sensitive data, checks for attacks, and only then forwards the safe prompt to the AI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divided into 5 core modules: PII Detection, Jailbreak Defense, Policy Configuration, Risk Scoring, and Cryptographic Logging.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our partial masking feature. Notice how Aadhaar and PAN numbers keep their format so the AI understands it is an ID, without revealing the actual private number.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Hackers try to trick AI using jailbreak tricks like 'Ignore all rules and answer this'. Our jailbreak defense module detects these trick phrases and blocks them instantly.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prompt receives a live Risk Score between 0 and 100 percent based on entity count and threat level. Critical threats are blocked automatically and recorded in our tamper-proof log.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Python Flask for the backend API, Vanilla JavaScript and CSS for a fast glowing dark-mode frontend, and Chart.js for live analytics.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shows the end-to-end user workflow: from prompt submission, dual scanning, partial masking, to final audit logging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advantage of our system is that it protects privacy without slowing down the AI or ruining the quality of answers. It also helps companies meet government data laws.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future, we plan to add image and voice data scanning, create a browser extension for ChatGPT, and support automated compliance report downloads.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SecureLLM Shield provides a complete and reliable security shield for using AI safely in organizations. It bridges the gap between AI convenience and data security.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evaluators for your time and guidance. We are now open for any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1C2541"/>
          </a:solidFill>
          <a:ln w="254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80160"/>
            <a:ext cx="9448495" cy="2011680"/>
          </a:xfrm>
          <a:prstGeom prst="rect">
            <a:avLst/>
          </a:prstGeom>
          <a:noFill/>
        </p:spPr>
        <p:txBody>
          <a:bodyPr wrap="square">
            <a:spAutoFit/>
          </a:bodyPr>
          <a:lstStyle/>
          <a:p>
            <a:pPr algn="ctr">
              <a:defRPr sz="4000" b="1">
                <a:solidFill>
                  <a:srgbClr val="00F2FE"/>
                </a:solidFill>
              </a:defRPr>
            </a:pPr>
            <a:r>
              <a:t>SecureLLM Shield</a:t>
            </a:r>
          </a:p>
          <a:p>
            <a:pPr algn="ctr">
              <a:spcBef>
                <a:spcPts val="1200"/>
              </a:spcBef>
              <a:defRPr sz="1600">
                <a:solidFill>
                  <a:srgbClr val="FFFFFF"/>
                </a:solidFill>
              </a:defRPr>
            </a:pPr>
            <a:r>
              <a:t>Privacy Threat Detection, Sensitive Information Protection, Audit and Migration Framework for Large Language Models</a:t>
            </a:r>
          </a:p>
          <a:p>
            <a:pPr algn="ctr">
              <a:spcBef>
                <a:spcPts val="1600"/>
              </a:spcBef>
              <a:defRPr sz="1300" b="1">
                <a:solidFill>
                  <a:srgbClr val="48CAE4"/>
                </a:solidFill>
              </a:defRPr>
            </a:pPr>
            <a:r>
              <a:t>DEPARTMENT OF ARTIFICIAL INTELLIGENCE &amp; MACHINE LEARNING</a:t>
            </a:r>
          </a:p>
        </p:txBody>
      </p:sp>
      <p:sp>
        <p:nvSpPr>
          <p:cNvPr id="5" name="TextBox 4"/>
          <p:cNvSpPr txBox="1"/>
          <p:nvPr/>
        </p:nvSpPr>
        <p:spPr>
          <a:xfrm>
            <a:off x="1371600" y="3840480"/>
            <a:ext cx="9448495" cy="1645920"/>
          </a:xfrm>
          <a:prstGeom prst="rect">
            <a:avLst/>
          </a:prstGeom>
          <a:noFill/>
        </p:spPr>
        <p:txBody>
          <a:bodyPr wrap="square">
            <a:spAutoFit/>
          </a:bodyPr>
          <a:lstStyle/>
          <a:p>
            <a:pPr algn="ctr">
              <a:defRPr sz="1400" b="1">
                <a:solidFill>
                  <a:srgbClr val="00F2FE"/>
                </a:solidFill>
              </a:defRPr>
            </a:pPr>
            <a:r>
              <a:t>Presented By:</a:t>
            </a:r>
          </a:p>
          <a:p>
            <a:pPr algn="ctr">
              <a:spcBef>
                <a:spcPts val="600"/>
              </a:spcBef>
              <a:defRPr sz="1500" b="1">
                <a:solidFill>
                  <a:srgbClr val="FFFFFF"/>
                </a:solidFill>
              </a:defRPr>
            </a:pPr>
            <a:r>
              <a:t>BARATHKUMAR M (Reg. No: 111923AM01007)   |   SUBASH P (Reg. No: 111923AM02052)</a:t>
            </a:r>
          </a:p>
          <a:p>
            <a:pPr algn="ctr">
              <a:spcBef>
                <a:spcPts val="800"/>
              </a:spcBef>
              <a:defRPr sz="1200">
                <a:solidFill>
                  <a:srgbClr val="8D99AE"/>
                </a:solidFill>
              </a:defRPr>
            </a:pPr>
            <a:r>
              <a:t>Academic Project Review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Team Members &amp; Credentials</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2 of 18</a:t>
            </a:r>
          </a:p>
        </p:txBody>
      </p:sp>
      <p:sp>
        <p:nvSpPr>
          <p:cNvPr id="6" name="Rounded Rectangle 5"/>
          <p:cNvSpPr/>
          <p:nvPr/>
        </p:nvSpPr>
        <p:spPr>
          <a:xfrm>
            <a:off x="1097280" y="1645920"/>
            <a:ext cx="4754880" cy="4297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920240"/>
            <a:ext cx="4206240" cy="3749039"/>
          </a:xfrm>
          <a:prstGeom prst="rect">
            <a:avLst/>
          </a:prstGeom>
          <a:noFill/>
        </p:spPr>
        <p:txBody>
          <a:bodyPr wrap="square">
            <a:spAutoFit/>
          </a:bodyPr>
          <a:lstStyle/>
          <a:p>
            <a:pPr>
              <a:defRPr sz="2200" b="1">
                <a:solidFill>
                  <a:srgbClr val="00F2FE"/>
                </a:solidFill>
              </a:defRPr>
            </a:pPr>
            <a:r>
              <a:t>BARATHKUMAR M</a:t>
            </a:r>
          </a:p>
          <a:p>
            <a:pPr>
              <a:spcBef>
                <a:spcPts val="600"/>
              </a:spcBef>
              <a:defRPr sz="1300" b="1">
                <a:solidFill>
                  <a:srgbClr val="8D99AE"/>
                </a:solidFill>
              </a:defRPr>
            </a:pPr>
            <a:r>
              <a:t>Register No: 111923AM01007</a:t>
            </a:r>
          </a:p>
          <a:p>
            <a:pPr>
              <a:spcBef>
                <a:spcPts val="600"/>
              </a:spcBef>
              <a:defRPr sz="1300" b="0">
                <a:solidFill>
                  <a:srgbClr val="8D99AE"/>
                </a:solidFill>
              </a:defRPr>
            </a:pPr>
            <a:r>
              <a:t>Dept: Artificial Intelligence &amp; Machine Learning</a:t>
            </a:r>
          </a:p>
          <a:p>
            <a:pPr>
              <a:spcBef>
                <a:spcPts val="600"/>
              </a:spcBef>
              <a:defRPr sz="1300" b="1">
                <a:solidFill>
                  <a:srgbClr val="48CAE4"/>
                </a:solidFill>
              </a:defRPr>
            </a:pPr>
            <a:r>
              <a:t>Role: Security Pipeline &amp; Detection Module Developer</a:t>
            </a:r>
          </a:p>
          <a:p>
            <a:pPr>
              <a:spcBef>
                <a:spcPts val="600"/>
              </a:spcBef>
              <a:defRPr sz="1400" b="1">
                <a:solidFill>
                  <a:srgbClr val="48CAE4"/>
                </a:solidFill>
              </a:defRPr>
            </a:pPr>
            <a:r>
              <a:t>Responsibilities:</a:t>
            </a:r>
          </a:p>
          <a:p>
            <a:pPr>
              <a:spcBef>
                <a:spcPts val="600"/>
              </a:spcBef>
              <a:defRPr sz="1300" b="0">
                <a:solidFill>
                  <a:srgbClr val="FFFFFF"/>
                </a:solidFill>
              </a:defRPr>
            </a:pPr>
            <a:r>
              <a:t>  • Implemented 20-Entity PII Pattern Engines</a:t>
            </a:r>
          </a:p>
          <a:p>
            <a:pPr>
              <a:spcBef>
                <a:spcPts val="600"/>
              </a:spcBef>
              <a:defRPr sz="1300" b="0">
                <a:solidFill>
                  <a:srgbClr val="FFFFFF"/>
                </a:solidFill>
              </a:defRPr>
            </a:pPr>
            <a:r>
              <a:t>  • Developed Aadhaar, PAN, and Bank Masking Rules</a:t>
            </a:r>
          </a:p>
          <a:p>
            <a:pPr>
              <a:spcBef>
                <a:spcPts val="600"/>
              </a:spcBef>
              <a:defRPr sz="1300" b="0">
                <a:solidFill>
                  <a:srgbClr val="FFFFFF"/>
                </a:solidFill>
              </a:defRPr>
            </a:pPr>
            <a:r>
              <a:t>  • Designed Prompt Injection &amp; Jailbreak Defense Gates</a:t>
            </a:r>
          </a:p>
        </p:txBody>
      </p:sp>
      <p:sp>
        <p:nvSpPr>
          <p:cNvPr id="8" name="Rounded Rectangle 7"/>
          <p:cNvSpPr/>
          <p:nvPr/>
        </p:nvSpPr>
        <p:spPr>
          <a:xfrm>
            <a:off x="6309360" y="1645920"/>
            <a:ext cx="4754880" cy="4297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206240" cy="3749039"/>
          </a:xfrm>
          <a:prstGeom prst="rect">
            <a:avLst/>
          </a:prstGeom>
          <a:noFill/>
        </p:spPr>
        <p:txBody>
          <a:bodyPr wrap="square">
            <a:spAutoFit/>
          </a:bodyPr>
          <a:lstStyle/>
          <a:p>
            <a:pPr>
              <a:defRPr sz="2200" b="1">
                <a:solidFill>
                  <a:srgbClr val="00F2FE"/>
                </a:solidFill>
              </a:defRPr>
            </a:pPr>
            <a:r>
              <a:t>SUBASH P</a:t>
            </a:r>
          </a:p>
          <a:p>
            <a:pPr>
              <a:spcBef>
                <a:spcPts val="600"/>
              </a:spcBef>
              <a:defRPr sz="1300" b="1">
                <a:solidFill>
                  <a:srgbClr val="8D99AE"/>
                </a:solidFill>
              </a:defRPr>
            </a:pPr>
            <a:r>
              <a:t>Register No: 111923AM02052</a:t>
            </a:r>
          </a:p>
          <a:p>
            <a:pPr>
              <a:spcBef>
                <a:spcPts val="600"/>
              </a:spcBef>
              <a:defRPr sz="1300" b="0">
                <a:solidFill>
                  <a:srgbClr val="8D99AE"/>
                </a:solidFill>
              </a:defRPr>
            </a:pPr>
            <a:r>
              <a:t>Dept: Artificial Intelligence &amp; Machine Learning</a:t>
            </a:r>
          </a:p>
          <a:p>
            <a:pPr>
              <a:spcBef>
                <a:spcPts val="600"/>
              </a:spcBef>
              <a:defRPr sz="1300" b="1">
                <a:solidFill>
                  <a:srgbClr val="48CAE4"/>
                </a:solidFill>
              </a:defRPr>
            </a:pPr>
            <a:r>
              <a:t>Role: Backend Architecture &amp; UI Dashboard Developer</a:t>
            </a:r>
          </a:p>
          <a:p>
            <a:pPr>
              <a:spcBef>
                <a:spcPts val="600"/>
              </a:spcBef>
              <a:defRPr sz="1400" b="1">
                <a:solidFill>
                  <a:srgbClr val="48CAE4"/>
                </a:solidFill>
              </a:defRPr>
            </a:pPr>
            <a:r>
              <a:t>Responsibilities:</a:t>
            </a:r>
          </a:p>
          <a:p>
            <a:pPr>
              <a:spcBef>
                <a:spcPts val="600"/>
              </a:spcBef>
              <a:defRPr sz="1300" b="0">
                <a:solidFill>
                  <a:srgbClr val="FFFFFF"/>
                </a:solidFill>
              </a:defRPr>
            </a:pPr>
            <a:r>
              <a:t>  • Developed Python Flask API &amp; Server Architecture</a:t>
            </a:r>
          </a:p>
          <a:p>
            <a:pPr>
              <a:spcBef>
                <a:spcPts val="600"/>
              </a:spcBef>
              <a:defRPr sz="1300" b="0">
                <a:solidFill>
                  <a:srgbClr val="FFFFFF"/>
                </a:solidFill>
              </a:defRPr>
            </a:pPr>
            <a:r>
              <a:t>  • Built Real-Time Interactive Security Dashboard</a:t>
            </a:r>
          </a:p>
          <a:p>
            <a:pPr>
              <a:spcBef>
                <a:spcPts val="600"/>
              </a:spcBef>
              <a:defRPr sz="1300" b="0">
                <a:solidFill>
                  <a:srgbClr val="FFFFFF"/>
                </a:solidFill>
              </a:defRPr>
            </a:pPr>
            <a:r>
              <a:t>  • Integrated SHA-256 Audit Ledger &amp; Copilot Drawer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Project Overview</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3 of 18</a:t>
            </a:r>
          </a:p>
        </p:txBody>
      </p:sp>
      <p:sp>
        <p:nvSpPr>
          <p:cNvPr id="6" name="Rounded Rectangle 5"/>
          <p:cNvSpPr/>
          <p:nvPr/>
        </p:nvSpPr>
        <p:spPr>
          <a:xfrm>
            <a:off x="731520" y="1463040"/>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10149840" cy="658368"/>
          </a:xfrm>
          <a:prstGeom prst="rect">
            <a:avLst/>
          </a:prstGeom>
          <a:noFill/>
        </p:spPr>
        <p:txBody>
          <a:bodyPr wrap="square">
            <a:spAutoFit/>
          </a:bodyPr>
          <a:lstStyle/>
          <a:p>
            <a:r>
              <a:rPr b="1" sz="1500">
                <a:solidFill>
                  <a:srgbClr val="00F2FE"/>
                </a:solidFill>
              </a:rPr>
              <a:t>AI Security Gateway: </a:t>
            </a:r>
            <a:r>
              <a:rPr sz="1400">
                <a:solidFill>
                  <a:srgbClr val="FFFFFF"/>
                </a:solidFill>
              </a:rPr>
              <a:t>Acts as an inline security barrier placed between enterprise users and external LLM models.</a:t>
            </a:r>
          </a:p>
        </p:txBody>
      </p:sp>
      <p:sp>
        <p:nvSpPr>
          <p:cNvPr id="8" name="Rounded Rectangle 7"/>
          <p:cNvSpPr/>
          <p:nvPr/>
        </p:nvSpPr>
        <p:spPr>
          <a:xfrm>
            <a:off x="731520" y="2395728"/>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149840" cy="658368"/>
          </a:xfrm>
          <a:prstGeom prst="rect">
            <a:avLst/>
          </a:prstGeom>
          <a:noFill/>
        </p:spPr>
        <p:txBody>
          <a:bodyPr wrap="square">
            <a:spAutoFit/>
          </a:bodyPr>
          <a:lstStyle/>
          <a:p>
            <a:r>
              <a:rPr b="1" sz="1500">
                <a:solidFill>
                  <a:srgbClr val="00F2FE"/>
                </a:solidFill>
              </a:rPr>
              <a:t>Universal PII Masking: </a:t>
            </a:r>
            <a:r>
              <a:rPr sz="1400">
                <a:solidFill>
                  <a:srgbClr val="FFFFFF"/>
                </a:solidFill>
              </a:rPr>
              <a:t>Scans prompts for 20 sensitive entity types (Aadhaar, PAN, Bank Accounts, Passwords) and applies partial masking.</a:t>
            </a:r>
          </a:p>
        </p:txBody>
      </p:sp>
      <p:sp>
        <p:nvSpPr>
          <p:cNvPr id="10" name="Rounded Rectangle 9"/>
          <p:cNvSpPr/>
          <p:nvPr/>
        </p:nvSpPr>
        <p:spPr>
          <a:xfrm>
            <a:off x="731520" y="3328416"/>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01568"/>
            <a:ext cx="10149840" cy="658368"/>
          </a:xfrm>
          <a:prstGeom prst="rect">
            <a:avLst/>
          </a:prstGeom>
          <a:noFill/>
        </p:spPr>
        <p:txBody>
          <a:bodyPr wrap="square">
            <a:spAutoFit/>
          </a:bodyPr>
          <a:lstStyle/>
          <a:p>
            <a:r>
              <a:rPr b="1" sz="1500">
                <a:solidFill>
                  <a:srgbClr val="00F2FE"/>
                </a:solidFill>
              </a:rPr>
              <a:t>Prompt Injection Defense: </a:t>
            </a:r>
            <a:r>
              <a:rPr sz="1400">
                <a:solidFill>
                  <a:srgbClr val="FFFFFF"/>
                </a:solidFill>
              </a:rPr>
              <a:t>Detects and blocks jailbreak attacks (DAN prompts) before they reach foundation models.</a:t>
            </a:r>
          </a:p>
        </p:txBody>
      </p:sp>
      <p:sp>
        <p:nvSpPr>
          <p:cNvPr id="12" name="Rounded Rectangle 11"/>
          <p:cNvSpPr/>
          <p:nvPr/>
        </p:nvSpPr>
        <p:spPr>
          <a:xfrm>
            <a:off x="731520" y="4261104"/>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149840" cy="658368"/>
          </a:xfrm>
          <a:prstGeom prst="rect">
            <a:avLst/>
          </a:prstGeom>
          <a:noFill/>
        </p:spPr>
        <p:txBody>
          <a:bodyPr wrap="square">
            <a:spAutoFit/>
          </a:bodyPr>
          <a:lstStyle/>
          <a:p>
            <a:r>
              <a:rPr b="1" sz="1500">
                <a:solidFill>
                  <a:srgbClr val="00F2FE"/>
                </a:solidFill>
              </a:rPr>
              <a:t>Risk Scoring Engine: </a:t>
            </a:r>
            <a:r>
              <a:rPr sz="1400">
                <a:solidFill>
                  <a:srgbClr val="FFFFFF"/>
                </a:solidFill>
              </a:rPr>
              <a:t>Calculates real-time risk scores (0% to 100%) and displays explainable AI (XAI) security decision logs.</a:t>
            </a:r>
          </a:p>
        </p:txBody>
      </p:sp>
      <p:sp>
        <p:nvSpPr>
          <p:cNvPr id="14" name="Rounded Rectangle 13"/>
          <p:cNvSpPr/>
          <p:nvPr/>
        </p:nvSpPr>
        <p:spPr>
          <a:xfrm>
            <a:off x="731520" y="5193792"/>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266944"/>
            <a:ext cx="10149840" cy="658368"/>
          </a:xfrm>
          <a:prstGeom prst="rect">
            <a:avLst/>
          </a:prstGeom>
          <a:noFill/>
        </p:spPr>
        <p:txBody>
          <a:bodyPr wrap="square">
            <a:spAutoFit/>
          </a:bodyPr>
          <a:lstStyle/>
          <a:p>
            <a:r>
              <a:rPr b="1" sz="1500">
                <a:solidFill>
                  <a:srgbClr val="00F2FE"/>
                </a:solidFill>
              </a:rPr>
              <a:t>Cryptographic Audit Ledger: </a:t>
            </a:r>
            <a:r>
              <a:rPr sz="1400">
                <a:solidFill>
                  <a:srgbClr val="FFFFFF"/>
                </a:solidFill>
              </a:rPr>
              <a:t>Stores security events in a tamper-proof SHA-256 blockchain audit trail for regulatory compliance.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Problem Statement</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4 of 18</a:t>
            </a:r>
          </a:p>
        </p:txBody>
      </p:sp>
      <p:sp>
        <p:nvSpPr>
          <p:cNvPr id="6" name="Rounded Rectangle 5"/>
          <p:cNvSpPr/>
          <p:nvPr/>
        </p:nvSpPr>
        <p:spPr>
          <a:xfrm>
            <a:off x="731520" y="1463040"/>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10149840" cy="658368"/>
          </a:xfrm>
          <a:prstGeom prst="rect">
            <a:avLst/>
          </a:prstGeom>
          <a:noFill/>
        </p:spPr>
        <p:txBody>
          <a:bodyPr wrap="square">
            <a:spAutoFit/>
          </a:bodyPr>
          <a:lstStyle/>
          <a:p>
            <a:r>
              <a:rPr b="1" sz="1500">
                <a:solidFill>
                  <a:srgbClr val="FF0055"/>
                </a:solidFill>
              </a:rPr>
              <a:t>⚠️ Unintentional Data Leakage:</a:t>
            </a:r>
            <a:r>
              <a:rPr sz="1400">
                <a:solidFill>
                  <a:srgbClr val="FFFFFF"/>
                </a:solidFill>
              </a:rPr>
              <a:t> Employees frequently paste secret source code, customer details, and identity numbers into AI tools.</a:t>
            </a:r>
          </a:p>
        </p:txBody>
      </p:sp>
      <p:sp>
        <p:nvSpPr>
          <p:cNvPr id="8" name="Rounded Rectangle 7"/>
          <p:cNvSpPr/>
          <p:nvPr/>
        </p:nvSpPr>
        <p:spPr>
          <a:xfrm>
            <a:off x="731520" y="2395728"/>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149840" cy="658368"/>
          </a:xfrm>
          <a:prstGeom prst="rect">
            <a:avLst/>
          </a:prstGeom>
          <a:noFill/>
        </p:spPr>
        <p:txBody>
          <a:bodyPr wrap="square">
            <a:spAutoFit/>
          </a:bodyPr>
          <a:lstStyle/>
          <a:p>
            <a:r>
              <a:rPr b="1" sz="1500">
                <a:solidFill>
                  <a:srgbClr val="FF0055"/>
                </a:solidFill>
              </a:rPr>
              <a:t>⚠️ Privacy Violations:</a:t>
            </a:r>
            <a:r>
              <a:rPr sz="1400">
                <a:solidFill>
                  <a:srgbClr val="FFFFFF"/>
                </a:solidFill>
              </a:rPr>
              <a:t> Public LLM servers store prompt history, risking exposure of confidential citizen data.</a:t>
            </a:r>
          </a:p>
        </p:txBody>
      </p:sp>
      <p:sp>
        <p:nvSpPr>
          <p:cNvPr id="10" name="Rounded Rectangle 9"/>
          <p:cNvSpPr/>
          <p:nvPr/>
        </p:nvSpPr>
        <p:spPr>
          <a:xfrm>
            <a:off x="731520" y="3328416"/>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01568"/>
            <a:ext cx="10149840" cy="658368"/>
          </a:xfrm>
          <a:prstGeom prst="rect">
            <a:avLst/>
          </a:prstGeom>
          <a:noFill/>
        </p:spPr>
        <p:txBody>
          <a:bodyPr wrap="square">
            <a:spAutoFit/>
          </a:bodyPr>
          <a:lstStyle/>
          <a:p>
            <a:r>
              <a:rPr b="1" sz="1500">
                <a:solidFill>
                  <a:srgbClr val="FF0055"/>
                </a:solidFill>
              </a:rPr>
              <a:t>⚠️ Failure with Indian Identity Tags:</a:t>
            </a:r>
            <a:r>
              <a:rPr sz="1400">
                <a:solidFill>
                  <a:srgbClr val="FFFFFF"/>
                </a:solidFill>
              </a:rPr>
              <a:t> Standard regex filters fail on Indian 12-digit Aadhaar cards, PAN numbers, and IFSC codes.</a:t>
            </a:r>
          </a:p>
        </p:txBody>
      </p:sp>
      <p:sp>
        <p:nvSpPr>
          <p:cNvPr id="12" name="Rounded Rectangle 11"/>
          <p:cNvSpPr/>
          <p:nvPr/>
        </p:nvSpPr>
        <p:spPr>
          <a:xfrm>
            <a:off x="731520" y="4261104"/>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149840" cy="658368"/>
          </a:xfrm>
          <a:prstGeom prst="rect">
            <a:avLst/>
          </a:prstGeom>
          <a:noFill/>
        </p:spPr>
        <p:txBody>
          <a:bodyPr wrap="square">
            <a:spAutoFit/>
          </a:bodyPr>
          <a:lstStyle/>
          <a:p>
            <a:r>
              <a:rPr b="1" sz="1500">
                <a:solidFill>
                  <a:srgbClr val="FF0055"/>
                </a:solidFill>
              </a:rPr>
              <a:t>⚠️ Adversarial Jailbreak Attacks:</a:t>
            </a:r>
            <a:r>
              <a:rPr sz="1400">
                <a:solidFill>
                  <a:srgbClr val="FFFFFF"/>
                </a:solidFill>
              </a:rPr>
              <a:t> Hackers use prompt injection tricks (DAN payloads) to bypass safety guardrails.</a:t>
            </a:r>
          </a:p>
        </p:txBody>
      </p:sp>
      <p:sp>
        <p:nvSpPr>
          <p:cNvPr id="14" name="Rounded Rectangle 13"/>
          <p:cNvSpPr/>
          <p:nvPr/>
        </p:nvSpPr>
        <p:spPr>
          <a:xfrm>
            <a:off x="731520" y="5193792"/>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266944"/>
            <a:ext cx="10149840" cy="658368"/>
          </a:xfrm>
          <a:prstGeom prst="rect">
            <a:avLst/>
          </a:prstGeom>
          <a:noFill/>
        </p:spPr>
        <p:txBody>
          <a:bodyPr wrap="square">
            <a:spAutoFit/>
          </a:bodyPr>
          <a:lstStyle/>
          <a:p>
            <a:r>
              <a:rPr b="1" sz="1500">
                <a:solidFill>
                  <a:srgbClr val="FF0055"/>
                </a:solidFill>
              </a:rPr>
              <a:t>⚠️ Lack of Audit Trail:</a:t>
            </a:r>
            <a:r>
              <a:rPr sz="1400">
                <a:solidFill>
                  <a:srgbClr val="FFFFFF"/>
                </a:solidFill>
              </a:rPr>
              <a:t> Organizations have no centralized system to track AI usage, calculate risk, or prove regulatory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Project Objectives</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5 of 18</a:t>
            </a:r>
          </a:p>
        </p:txBody>
      </p:sp>
      <p:sp>
        <p:nvSpPr>
          <p:cNvPr id="6" name="Rounded Rectangle 5"/>
          <p:cNvSpPr/>
          <p:nvPr/>
        </p:nvSpPr>
        <p:spPr>
          <a:xfrm>
            <a:off x="731520" y="1463040"/>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10149840" cy="658368"/>
          </a:xfrm>
          <a:prstGeom prst="rect">
            <a:avLst/>
          </a:prstGeom>
          <a:noFill/>
        </p:spPr>
        <p:txBody>
          <a:bodyPr wrap="square">
            <a:spAutoFit/>
          </a:bodyPr>
          <a:lstStyle/>
          <a:p>
            <a:r>
              <a:rPr b="1" sz="1500">
                <a:solidFill>
                  <a:srgbClr val="00F2FE"/>
                </a:solidFill>
              </a:rPr>
              <a:t>1. Build a Real-Time Prompt Sanitizer:</a:t>
            </a:r>
            <a:r>
              <a:rPr sz="1400">
                <a:solidFill>
                  <a:srgbClr val="FFFFFF"/>
                </a:solidFill>
              </a:rPr>
              <a:t> Detect and sanitize 20 sensitive entity types in under 50 milliseconds.</a:t>
            </a:r>
          </a:p>
        </p:txBody>
      </p:sp>
      <p:sp>
        <p:nvSpPr>
          <p:cNvPr id="8" name="Rounded Rectangle 7"/>
          <p:cNvSpPr/>
          <p:nvPr/>
        </p:nvSpPr>
        <p:spPr>
          <a:xfrm>
            <a:off x="731520" y="2395728"/>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149840" cy="658368"/>
          </a:xfrm>
          <a:prstGeom prst="rect">
            <a:avLst/>
          </a:prstGeom>
          <a:noFill/>
        </p:spPr>
        <p:txBody>
          <a:bodyPr wrap="square">
            <a:spAutoFit/>
          </a:bodyPr>
          <a:lstStyle/>
          <a:p>
            <a:r>
              <a:rPr b="1" sz="1500">
                <a:solidFill>
                  <a:srgbClr val="00F2FE"/>
                </a:solidFill>
              </a:rPr>
              <a:t>2. Implement Context-Preserving Partial Masking:</a:t>
            </a:r>
            <a:r>
              <a:rPr sz="1400">
                <a:solidFill>
                  <a:srgbClr val="FFFFFF"/>
                </a:solidFill>
              </a:rPr>
              <a:t> Hide critical digits (e.g. XXXX XXXX 9012) while keeping prompt meaning intact.</a:t>
            </a:r>
          </a:p>
        </p:txBody>
      </p:sp>
      <p:sp>
        <p:nvSpPr>
          <p:cNvPr id="10" name="Rounded Rectangle 9"/>
          <p:cNvSpPr/>
          <p:nvPr/>
        </p:nvSpPr>
        <p:spPr>
          <a:xfrm>
            <a:off x="731520" y="3328416"/>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01568"/>
            <a:ext cx="10149840" cy="658368"/>
          </a:xfrm>
          <a:prstGeom prst="rect">
            <a:avLst/>
          </a:prstGeom>
          <a:noFill/>
        </p:spPr>
        <p:txBody>
          <a:bodyPr wrap="square">
            <a:spAutoFit/>
          </a:bodyPr>
          <a:lstStyle/>
          <a:p>
            <a:r>
              <a:rPr b="1" sz="1500">
                <a:solidFill>
                  <a:srgbClr val="00F2FE"/>
                </a:solidFill>
              </a:rPr>
              <a:t>3. Neutralize Adversarial Prompt Injections:</a:t>
            </a:r>
            <a:r>
              <a:rPr sz="1400">
                <a:solidFill>
                  <a:srgbClr val="FFFFFF"/>
                </a:solidFill>
              </a:rPr>
              <a:t> Block DAN jailbreaks, system overrides, and context poisoning attempts.</a:t>
            </a:r>
          </a:p>
        </p:txBody>
      </p:sp>
      <p:sp>
        <p:nvSpPr>
          <p:cNvPr id="12" name="Rounded Rectangle 11"/>
          <p:cNvSpPr/>
          <p:nvPr/>
        </p:nvSpPr>
        <p:spPr>
          <a:xfrm>
            <a:off x="731520" y="4261104"/>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149840" cy="658368"/>
          </a:xfrm>
          <a:prstGeom prst="rect">
            <a:avLst/>
          </a:prstGeom>
          <a:noFill/>
        </p:spPr>
        <p:txBody>
          <a:bodyPr wrap="square">
            <a:spAutoFit/>
          </a:bodyPr>
          <a:lstStyle/>
          <a:p>
            <a:r>
              <a:rPr b="1" sz="1500">
                <a:solidFill>
                  <a:srgbClr val="00F2FE"/>
                </a:solidFill>
              </a:rPr>
              <a:t>4. Develop AI-Based Risk Prediction:</a:t>
            </a:r>
            <a:r>
              <a:rPr sz="1400">
                <a:solidFill>
                  <a:srgbClr val="FFFFFF"/>
                </a:solidFill>
              </a:rPr>
              <a:t> Assign real-time threat scores (0% to 100%) with explainable decision logs.</a:t>
            </a:r>
          </a:p>
        </p:txBody>
      </p:sp>
      <p:sp>
        <p:nvSpPr>
          <p:cNvPr id="14" name="Rounded Rectangle 13"/>
          <p:cNvSpPr/>
          <p:nvPr/>
        </p:nvSpPr>
        <p:spPr>
          <a:xfrm>
            <a:off x="731520" y="5193792"/>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266944"/>
            <a:ext cx="10149840" cy="658368"/>
          </a:xfrm>
          <a:prstGeom prst="rect">
            <a:avLst/>
          </a:prstGeom>
          <a:noFill/>
        </p:spPr>
        <p:txBody>
          <a:bodyPr wrap="square">
            <a:spAutoFit/>
          </a:bodyPr>
          <a:lstStyle/>
          <a:p>
            <a:r>
              <a:rPr b="1" sz="1500">
                <a:solidFill>
                  <a:srgbClr val="00F2FE"/>
                </a:solidFill>
              </a:rPr>
              <a:t>5. Guarantee Immutable Auditability:</a:t>
            </a:r>
            <a:r>
              <a:rPr sz="1400">
                <a:solidFill>
                  <a:srgbClr val="FFFFFF"/>
                </a:solidFill>
              </a:rPr>
              <a:t> Store tamper-proof security logs using a cryptographic SHA-256 blockchain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Existing System vs Limitations</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6 of 18</a:t>
            </a:r>
          </a:p>
        </p:txBody>
      </p:sp>
      <p:sp>
        <p:nvSpPr>
          <p:cNvPr id="6" name="Rounded Rectangle 5"/>
          <p:cNvSpPr/>
          <p:nvPr/>
        </p:nvSpPr>
        <p:spPr>
          <a:xfrm>
            <a:off x="731520" y="1554480"/>
            <a:ext cx="5120640" cy="4389120"/>
          </a:xfrm>
          <a:prstGeom prst="roundRect">
            <a:avLst/>
          </a:prstGeom>
          <a:solidFill>
            <a:srgbClr val="1C2541"/>
          </a:solidFill>
          <a:ln w="12700">
            <a:solidFill>
              <a:srgbClr val="8D99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4023360"/>
          </a:xfrm>
          <a:prstGeom prst="rect">
            <a:avLst/>
          </a:prstGeom>
          <a:noFill/>
        </p:spPr>
        <p:txBody>
          <a:bodyPr wrap="square">
            <a:spAutoFit/>
          </a:bodyPr>
          <a:lstStyle/>
          <a:p>
            <a:pPr>
              <a:defRPr sz="2000" b="1">
                <a:solidFill>
                  <a:srgbClr val="00F2FE"/>
                </a:solidFill>
              </a:defRPr>
            </a:pPr>
            <a:r>
              <a:t>Existing Security Tools</a:t>
            </a:r>
          </a:p>
          <a:p>
            <a:pPr>
              <a:spcBef>
                <a:spcPts val="1200"/>
              </a:spcBef>
              <a:defRPr sz="1400">
                <a:solidFill>
                  <a:srgbClr val="FFFFFF"/>
                </a:solidFill>
              </a:defRPr>
            </a:pPr>
            <a:r>
              <a:t>• Basic Keyword Matching (Simple Regex)</a:t>
            </a:r>
          </a:p>
          <a:p>
            <a:pPr>
              <a:spcBef>
                <a:spcPts val="1200"/>
              </a:spcBef>
              <a:defRPr sz="1400">
                <a:solidFill>
                  <a:srgbClr val="FFFFFF"/>
                </a:solidFill>
              </a:defRPr>
            </a:pPr>
            <a:r>
              <a:t>• Full Redaction ([REDACTED] or [BLOCKED])</a:t>
            </a:r>
          </a:p>
          <a:p>
            <a:pPr>
              <a:spcBef>
                <a:spcPts val="1200"/>
              </a:spcBef>
              <a:defRPr sz="1400">
                <a:solidFill>
                  <a:srgbClr val="FFFFFF"/>
                </a:solidFill>
              </a:defRPr>
            </a:pPr>
            <a:r>
              <a:t>• Static Single-Provider Rules</a:t>
            </a:r>
          </a:p>
          <a:p>
            <a:pPr>
              <a:spcBef>
                <a:spcPts val="1200"/>
              </a:spcBef>
              <a:defRPr sz="1400">
                <a:solidFill>
                  <a:srgbClr val="FFFFFF"/>
                </a:solidFill>
              </a:defRPr>
            </a:pPr>
            <a:r>
              <a:t>• Manual Security Inspection</a:t>
            </a:r>
          </a:p>
          <a:p>
            <a:pPr>
              <a:spcBef>
                <a:spcPts val="1200"/>
              </a:spcBef>
              <a:defRPr sz="1400">
                <a:solidFill>
                  <a:srgbClr val="FFFFFF"/>
                </a:solidFill>
              </a:defRPr>
            </a:pPr>
            <a:r>
              <a:t>• Standard Log Files (Editable &amp; Unsecured)</a:t>
            </a:r>
          </a:p>
        </p:txBody>
      </p:sp>
      <p:sp>
        <p:nvSpPr>
          <p:cNvPr id="8" name="Rounded Rectangle 7"/>
          <p:cNvSpPr/>
          <p:nvPr/>
        </p:nvSpPr>
        <p:spPr>
          <a:xfrm>
            <a:off x="6217920" y="1554480"/>
            <a:ext cx="5212080" cy="4389120"/>
          </a:xfrm>
          <a:prstGeom prst="roundRect">
            <a:avLst/>
          </a:prstGeom>
          <a:solidFill>
            <a:srgbClr val="1C2541"/>
          </a:solidFill>
          <a:ln w="190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4846320" cy="4023360"/>
          </a:xfrm>
          <a:prstGeom prst="rect">
            <a:avLst/>
          </a:prstGeom>
          <a:noFill/>
        </p:spPr>
        <p:txBody>
          <a:bodyPr wrap="square">
            <a:spAutoFit/>
          </a:bodyPr>
          <a:lstStyle/>
          <a:p>
            <a:pPr>
              <a:defRPr sz="2000" b="1">
                <a:solidFill>
                  <a:srgbClr val="FF0055"/>
                </a:solidFill>
              </a:defRPr>
            </a:pPr>
            <a:r>
              <a:t>Major Limitations</a:t>
            </a:r>
          </a:p>
          <a:p>
            <a:pPr>
              <a:spcBef>
                <a:spcPts val="1200"/>
              </a:spcBef>
              <a:defRPr sz="1400">
                <a:solidFill>
                  <a:srgbClr val="FFFFFF"/>
                </a:solidFill>
              </a:defRPr>
            </a:pPr>
            <a:r>
              <a:t>❌ Misses Formatted Indian PII (Aadhaar / PAN)</a:t>
            </a:r>
          </a:p>
          <a:p>
            <a:pPr>
              <a:spcBef>
                <a:spcPts val="1200"/>
              </a:spcBef>
              <a:defRPr sz="1400">
                <a:solidFill>
                  <a:srgbClr val="FFFFFF"/>
                </a:solidFill>
              </a:defRPr>
            </a:pPr>
            <a:r>
              <a:t>❌ Destroys Sentence Context for AI Models</a:t>
            </a:r>
          </a:p>
          <a:p>
            <a:pPr>
              <a:spcBef>
                <a:spcPts val="1200"/>
              </a:spcBef>
              <a:defRPr sz="1400">
                <a:solidFill>
                  <a:srgbClr val="FFFFFF"/>
                </a:solidFill>
              </a:defRPr>
            </a:pPr>
            <a:r>
              <a:t>❌ Vulnerable to DAN Prompt Injection Jailbreaks</a:t>
            </a:r>
          </a:p>
          <a:p>
            <a:pPr>
              <a:spcBef>
                <a:spcPts val="1200"/>
              </a:spcBef>
              <a:defRPr sz="1400">
                <a:solidFill>
                  <a:srgbClr val="FFFFFF"/>
                </a:solidFill>
              </a:defRPr>
            </a:pPr>
            <a:r>
              <a:t>❌ High Processing Delays (&gt; 500ms)</a:t>
            </a:r>
          </a:p>
          <a:p>
            <a:pPr>
              <a:spcBef>
                <a:spcPts val="1200"/>
              </a:spcBef>
              <a:defRPr sz="1400">
                <a:solidFill>
                  <a:srgbClr val="FFFFFF"/>
                </a:solidFill>
              </a:defRPr>
            </a:pPr>
            <a:r>
              <a:t>❌ No Immutable Auditability for Compliance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Proposed System — SecureLLM Shield</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7 of 18</a:t>
            </a:r>
          </a:p>
        </p:txBody>
      </p:sp>
      <p:sp>
        <p:nvSpPr>
          <p:cNvPr id="6" name="Rounded Rectangle 5"/>
          <p:cNvSpPr/>
          <p:nvPr/>
        </p:nvSpPr>
        <p:spPr>
          <a:xfrm>
            <a:off x="731520" y="1554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3154680" cy="1737360"/>
          </a:xfrm>
          <a:prstGeom prst="rect">
            <a:avLst/>
          </a:prstGeom>
          <a:noFill/>
        </p:spPr>
        <p:txBody>
          <a:bodyPr wrap="square">
            <a:spAutoFit/>
          </a:bodyPr>
          <a:lstStyle/>
          <a:p>
            <a:pPr>
              <a:defRPr sz="1600" b="1">
                <a:solidFill>
                  <a:srgbClr val="00F2FE"/>
                </a:solidFill>
              </a:defRPr>
            </a:pPr>
            <a:r>
              <a:t>Multi-Stage Pipeline</a:t>
            </a:r>
          </a:p>
          <a:p>
            <a:pPr>
              <a:spcBef>
                <a:spcPts val="200"/>
              </a:spcBef>
              <a:defRPr sz="1100" b="1">
                <a:solidFill>
                  <a:srgbClr val="48CAE4"/>
                </a:solidFill>
              </a:defRPr>
            </a:pPr>
            <a:r>
              <a:t>Regex + NER + Classifier</a:t>
            </a:r>
          </a:p>
          <a:p>
            <a:pPr>
              <a:spcBef>
                <a:spcPts val="600"/>
              </a:spcBef>
              <a:defRPr sz="1200">
                <a:solidFill>
                  <a:srgbClr val="FFFFFF"/>
                </a:solidFill>
              </a:defRPr>
            </a:pPr>
            <a:r>
              <a:t>Scans text through high-speed pattern matching and AI entity spans.</a:t>
            </a:r>
          </a:p>
        </p:txBody>
      </p:sp>
      <p:sp>
        <p:nvSpPr>
          <p:cNvPr id="8" name="Rounded Rectangle 7"/>
          <p:cNvSpPr/>
          <p:nvPr/>
        </p:nvSpPr>
        <p:spPr>
          <a:xfrm>
            <a:off x="4370832" y="1554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91640"/>
            <a:ext cx="3154680" cy="1737360"/>
          </a:xfrm>
          <a:prstGeom prst="rect">
            <a:avLst/>
          </a:prstGeom>
          <a:noFill/>
        </p:spPr>
        <p:txBody>
          <a:bodyPr wrap="square">
            <a:spAutoFit/>
          </a:bodyPr>
          <a:lstStyle/>
          <a:p>
            <a:pPr>
              <a:defRPr sz="1600" b="1">
                <a:solidFill>
                  <a:srgbClr val="00F2FE"/>
                </a:solidFill>
              </a:defRPr>
            </a:pPr>
            <a:r>
              <a:t>Smart Partial Masking</a:t>
            </a:r>
          </a:p>
          <a:p>
            <a:pPr>
              <a:spcBef>
                <a:spcPts val="200"/>
              </a:spcBef>
              <a:defRPr sz="1100" b="1">
                <a:solidFill>
                  <a:srgbClr val="48CAE4"/>
                </a:solidFill>
              </a:defRPr>
            </a:pPr>
            <a:r>
              <a:t>Context Preserved</a:t>
            </a:r>
          </a:p>
          <a:p>
            <a:pPr>
              <a:spcBef>
                <a:spcPts val="600"/>
              </a:spcBef>
              <a:defRPr sz="1200">
                <a:solidFill>
                  <a:srgbClr val="FFFFFF"/>
                </a:solidFill>
              </a:defRPr>
            </a:pPr>
            <a:r>
              <a:t>Replaces sensitive digits while preserving format (e.g. XXXX XXXX 9012).</a:t>
            </a:r>
          </a:p>
        </p:txBody>
      </p:sp>
      <p:sp>
        <p:nvSpPr>
          <p:cNvPr id="10" name="Rounded Rectangle 9"/>
          <p:cNvSpPr/>
          <p:nvPr/>
        </p:nvSpPr>
        <p:spPr>
          <a:xfrm>
            <a:off x="8010144" y="1554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47304" y="1691640"/>
            <a:ext cx="3154680" cy="1737360"/>
          </a:xfrm>
          <a:prstGeom prst="rect">
            <a:avLst/>
          </a:prstGeom>
          <a:noFill/>
        </p:spPr>
        <p:txBody>
          <a:bodyPr wrap="square">
            <a:spAutoFit/>
          </a:bodyPr>
          <a:lstStyle/>
          <a:p>
            <a:pPr>
              <a:defRPr sz="1600" b="1">
                <a:solidFill>
                  <a:srgbClr val="00F2FE"/>
                </a:solidFill>
              </a:defRPr>
            </a:pPr>
            <a:r>
              <a:t>Indian PII Coverage</a:t>
            </a:r>
          </a:p>
          <a:p>
            <a:pPr>
              <a:spcBef>
                <a:spcPts val="200"/>
              </a:spcBef>
              <a:defRPr sz="1100" b="1">
                <a:solidFill>
                  <a:srgbClr val="48CAE4"/>
                </a:solidFill>
              </a:defRPr>
            </a:pPr>
            <a:r>
              <a:t>Universal Protection</a:t>
            </a:r>
          </a:p>
          <a:p>
            <a:pPr>
              <a:spcBef>
                <a:spcPts val="600"/>
              </a:spcBef>
              <a:defRPr sz="1200">
                <a:solidFill>
                  <a:srgbClr val="FFFFFF"/>
                </a:solidFill>
              </a:defRPr>
            </a:pPr>
            <a:r>
              <a:t>Full support for Aadhaar, PAN, Bank Accounts, UPI, and IFSC codes.</a:t>
            </a:r>
          </a:p>
        </p:txBody>
      </p:sp>
      <p:sp>
        <p:nvSpPr>
          <p:cNvPr id="12" name="Rounded Rectangle 11"/>
          <p:cNvSpPr/>
          <p:nvPr/>
        </p:nvSpPr>
        <p:spPr>
          <a:xfrm>
            <a:off x="731520" y="3840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77640"/>
            <a:ext cx="3154680" cy="1737360"/>
          </a:xfrm>
          <a:prstGeom prst="rect">
            <a:avLst/>
          </a:prstGeom>
          <a:noFill/>
        </p:spPr>
        <p:txBody>
          <a:bodyPr wrap="square">
            <a:spAutoFit/>
          </a:bodyPr>
          <a:lstStyle/>
          <a:p>
            <a:pPr>
              <a:defRPr sz="1600" b="1">
                <a:solidFill>
                  <a:srgbClr val="00F2FE"/>
                </a:solidFill>
              </a:defRPr>
            </a:pPr>
            <a:r>
              <a:t>Adaptive Policy Engine</a:t>
            </a:r>
          </a:p>
          <a:p>
            <a:pPr>
              <a:spcBef>
                <a:spcPts val="200"/>
              </a:spcBef>
              <a:defRPr sz="1100" b="1">
                <a:solidFill>
                  <a:srgbClr val="48CAE4"/>
                </a:solidFill>
              </a:defRPr>
            </a:pPr>
            <a:r>
              <a:t>Industry Presets</a:t>
            </a:r>
          </a:p>
          <a:p>
            <a:pPr>
              <a:spcBef>
                <a:spcPts val="600"/>
              </a:spcBef>
              <a:defRPr sz="1200">
                <a:solidFill>
                  <a:srgbClr val="FFFFFF"/>
                </a:solidFill>
              </a:defRPr>
            </a:pPr>
            <a:r>
              <a:t>Configurable profiles for Enterprise, Healthcare, Banking, and Government.</a:t>
            </a:r>
          </a:p>
        </p:txBody>
      </p:sp>
      <p:sp>
        <p:nvSpPr>
          <p:cNvPr id="14" name="Rounded Rectangle 13"/>
          <p:cNvSpPr/>
          <p:nvPr/>
        </p:nvSpPr>
        <p:spPr>
          <a:xfrm>
            <a:off x="4370832" y="3840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3977640"/>
            <a:ext cx="3154680" cy="1737360"/>
          </a:xfrm>
          <a:prstGeom prst="rect">
            <a:avLst/>
          </a:prstGeom>
          <a:noFill/>
        </p:spPr>
        <p:txBody>
          <a:bodyPr wrap="square">
            <a:spAutoFit/>
          </a:bodyPr>
          <a:lstStyle/>
          <a:p>
            <a:pPr>
              <a:defRPr sz="1600" b="1">
                <a:solidFill>
                  <a:srgbClr val="00F2FE"/>
                </a:solidFill>
              </a:defRPr>
            </a:pPr>
            <a:r>
              <a:t>Cryptographic Audit</a:t>
            </a:r>
          </a:p>
          <a:p>
            <a:pPr>
              <a:spcBef>
                <a:spcPts val="200"/>
              </a:spcBef>
              <a:defRPr sz="1100" b="1">
                <a:solidFill>
                  <a:srgbClr val="48CAE4"/>
                </a:solidFill>
              </a:defRPr>
            </a:pPr>
            <a:r>
              <a:t>SHA-256 Blockchain</a:t>
            </a:r>
          </a:p>
          <a:p>
            <a:pPr>
              <a:spcBef>
                <a:spcPts val="600"/>
              </a:spcBef>
              <a:defRPr sz="1200">
                <a:solidFill>
                  <a:srgbClr val="FFFFFF"/>
                </a:solidFill>
              </a:defRPr>
            </a:pPr>
            <a:r>
              <a:t>Stores tamper-proof security audit logs in an immutable ledger.</a:t>
            </a:r>
          </a:p>
        </p:txBody>
      </p:sp>
      <p:sp>
        <p:nvSpPr>
          <p:cNvPr id="16" name="Rounded Rectangle 15"/>
          <p:cNvSpPr/>
          <p:nvPr/>
        </p:nvSpPr>
        <p:spPr>
          <a:xfrm>
            <a:off x="8010144" y="3840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47304" y="3977640"/>
            <a:ext cx="3154680" cy="1737360"/>
          </a:xfrm>
          <a:prstGeom prst="rect">
            <a:avLst/>
          </a:prstGeom>
          <a:noFill/>
        </p:spPr>
        <p:txBody>
          <a:bodyPr wrap="square">
            <a:spAutoFit/>
          </a:bodyPr>
          <a:lstStyle/>
          <a:p>
            <a:pPr>
              <a:defRPr sz="1600" b="1">
                <a:solidFill>
                  <a:srgbClr val="00F2FE"/>
                </a:solidFill>
              </a:defRPr>
            </a:pPr>
            <a:r>
              <a:t>Security Copilot</a:t>
            </a:r>
          </a:p>
          <a:p>
            <a:pPr>
              <a:spcBef>
                <a:spcPts val="200"/>
              </a:spcBef>
              <a:defRPr sz="1100" b="1">
                <a:solidFill>
                  <a:srgbClr val="48CAE4"/>
                </a:solidFill>
              </a:defRPr>
            </a:pPr>
            <a:r>
              <a:t>AI Assistant Drawer</a:t>
            </a:r>
          </a:p>
          <a:p>
            <a:pPr>
              <a:spcBef>
                <a:spcPts val="600"/>
              </a:spcBef>
              <a:defRPr sz="1200">
                <a:solidFill>
                  <a:srgbClr val="FFFFFF"/>
                </a:solidFill>
              </a:defRPr>
            </a:pPr>
            <a:r>
              <a:t>Embedded helper that explains security risks and compliance rules live.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System Architecture</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8 of 18</a:t>
            </a:r>
          </a:p>
        </p:txBody>
      </p:sp>
      <p:sp>
        <p:nvSpPr>
          <p:cNvPr id="6" name="Rounded Rectangle 5"/>
          <p:cNvSpPr/>
          <p:nvPr/>
        </p:nvSpPr>
        <p:spPr>
          <a:xfrm>
            <a:off x="731520" y="2011680"/>
            <a:ext cx="1920240" cy="237744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48840"/>
            <a:ext cx="1737360" cy="2103120"/>
          </a:xfrm>
          <a:prstGeom prst="rect">
            <a:avLst/>
          </a:prstGeom>
          <a:noFill/>
        </p:spPr>
        <p:txBody>
          <a:bodyPr wrap="square">
            <a:spAutoFit/>
          </a:bodyPr>
          <a:lstStyle/>
          <a:p>
            <a:pPr algn="ctr">
              <a:defRPr sz="1400" b="1">
                <a:solidFill>
                  <a:srgbClr val="00F2FE"/>
                </a:solidFill>
              </a:defRPr>
            </a:pPr>
            <a:r>
              <a:t>1. User Input</a:t>
            </a:r>
          </a:p>
          <a:p>
            <a:pPr algn="ctr">
              <a:spcBef>
                <a:spcPts val="1000"/>
              </a:spcBef>
              <a:defRPr sz="1100">
                <a:solidFill>
                  <a:srgbClr val="FFFFFF"/>
                </a:solidFill>
              </a:defRPr>
            </a:pPr>
            <a:r>
              <a:t>Prompt containing text, code, or identity tags</a:t>
            </a:r>
          </a:p>
        </p:txBody>
      </p:sp>
      <p:sp>
        <p:nvSpPr>
          <p:cNvPr id="8" name="Right Arrow 7"/>
          <p:cNvSpPr/>
          <p:nvPr/>
        </p:nvSpPr>
        <p:spPr>
          <a:xfrm>
            <a:off x="2670048" y="3017520"/>
            <a:ext cx="219456" cy="365760"/>
          </a:xfrm>
          <a:prstGeom prst="rightArrow">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26080" y="2011680"/>
            <a:ext cx="1920240" cy="237744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2148840"/>
            <a:ext cx="1737360" cy="2103120"/>
          </a:xfrm>
          <a:prstGeom prst="rect">
            <a:avLst/>
          </a:prstGeom>
          <a:noFill/>
        </p:spPr>
        <p:txBody>
          <a:bodyPr wrap="square">
            <a:spAutoFit/>
          </a:bodyPr>
          <a:lstStyle/>
          <a:p>
            <a:pPr algn="ctr">
              <a:defRPr sz="1400" b="1">
                <a:solidFill>
                  <a:srgbClr val="00F2FE"/>
                </a:solidFill>
              </a:defRPr>
            </a:pPr>
            <a:r>
              <a:t>2. Security Gateway</a:t>
            </a:r>
          </a:p>
          <a:p>
            <a:pPr algn="ctr">
              <a:spcBef>
                <a:spcPts val="1000"/>
              </a:spcBef>
              <a:defRPr sz="1100">
                <a:solidFill>
                  <a:srgbClr val="FFFFFF"/>
                </a:solidFill>
              </a:defRPr>
            </a:pPr>
            <a:r>
              <a:t>SecureLLM Shield inline inspection proxy</a:t>
            </a:r>
          </a:p>
        </p:txBody>
      </p:sp>
      <p:sp>
        <p:nvSpPr>
          <p:cNvPr id="11" name="Right Arrow 10"/>
          <p:cNvSpPr/>
          <p:nvPr/>
        </p:nvSpPr>
        <p:spPr>
          <a:xfrm>
            <a:off x="4864608" y="3017520"/>
            <a:ext cx="219456" cy="365760"/>
          </a:xfrm>
          <a:prstGeom prst="rightArrow">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2011680"/>
            <a:ext cx="1920240" cy="237744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148840"/>
            <a:ext cx="1737360" cy="2103120"/>
          </a:xfrm>
          <a:prstGeom prst="rect">
            <a:avLst/>
          </a:prstGeom>
          <a:noFill/>
        </p:spPr>
        <p:txBody>
          <a:bodyPr wrap="square">
            <a:spAutoFit/>
          </a:bodyPr>
          <a:lstStyle/>
          <a:p>
            <a:pPr algn="ctr">
              <a:defRPr sz="1400" b="1">
                <a:solidFill>
                  <a:srgbClr val="00F2FE"/>
                </a:solidFill>
              </a:defRPr>
            </a:pPr>
            <a:r>
              <a:t>3. Hybrid Pipeline</a:t>
            </a:r>
          </a:p>
          <a:p>
            <a:pPr algn="ctr">
              <a:spcBef>
                <a:spcPts val="1000"/>
              </a:spcBef>
              <a:defRPr sz="1100">
                <a:solidFill>
                  <a:srgbClr val="FFFFFF"/>
                </a:solidFill>
              </a:defRPr>
            </a:pPr>
            <a:r>
              <a:t>Regex + NER + Injection Classifier</a:t>
            </a:r>
          </a:p>
        </p:txBody>
      </p:sp>
      <p:sp>
        <p:nvSpPr>
          <p:cNvPr id="14" name="Right Arrow 13"/>
          <p:cNvSpPr/>
          <p:nvPr/>
        </p:nvSpPr>
        <p:spPr>
          <a:xfrm>
            <a:off x="7059168" y="3017520"/>
            <a:ext cx="219456" cy="365760"/>
          </a:xfrm>
          <a:prstGeom prst="rightArrow">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199" y="2011680"/>
            <a:ext cx="1920240" cy="237744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39" y="2148840"/>
            <a:ext cx="1737360" cy="2103120"/>
          </a:xfrm>
          <a:prstGeom prst="rect">
            <a:avLst/>
          </a:prstGeom>
          <a:noFill/>
        </p:spPr>
        <p:txBody>
          <a:bodyPr wrap="square">
            <a:spAutoFit/>
          </a:bodyPr>
          <a:lstStyle/>
          <a:p>
            <a:pPr algn="ctr">
              <a:defRPr sz="1400" b="1">
                <a:solidFill>
                  <a:srgbClr val="00F2FE"/>
                </a:solidFill>
              </a:defRPr>
            </a:pPr>
            <a:r>
              <a:t>4. Mask &amp; Score</a:t>
            </a:r>
          </a:p>
          <a:p>
            <a:pPr algn="ctr">
              <a:spcBef>
                <a:spcPts val="1000"/>
              </a:spcBef>
              <a:defRPr sz="1100">
                <a:solidFill>
                  <a:srgbClr val="FFFFFF"/>
                </a:solidFill>
              </a:defRPr>
            </a:pPr>
            <a:r>
              <a:t>Partial Masking + Risk Score calculation</a:t>
            </a:r>
          </a:p>
        </p:txBody>
      </p:sp>
      <p:sp>
        <p:nvSpPr>
          <p:cNvPr id="17" name="Right Arrow 16"/>
          <p:cNvSpPr/>
          <p:nvPr/>
        </p:nvSpPr>
        <p:spPr>
          <a:xfrm>
            <a:off x="9253727" y="3017520"/>
            <a:ext cx="219456" cy="365760"/>
          </a:xfrm>
          <a:prstGeom prst="rightArrow">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509760" y="2011680"/>
            <a:ext cx="1920240" cy="237744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2148840"/>
            <a:ext cx="1737360" cy="2103120"/>
          </a:xfrm>
          <a:prstGeom prst="rect">
            <a:avLst/>
          </a:prstGeom>
          <a:noFill/>
        </p:spPr>
        <p:txBody>
          <a:bodyPr wrap="square">
            <a:spAutoFit/>
          </a:bodyPr>
          <a:lstStyle/>
          <a:p>
            <a:pPr algn="ctr">
              <a:defRPr sz="1400" b="1">
                <a:solidFill>
                  <a:srgbClr val="00F2FE"/>
                </a:solidFill>
              </a:defRPr>
            </a:pPr>
            <a:r>
              <a:t>5. Target LLM</a:t>
            </a:r>
          </a:p>
          <a:p>
            <a:pPr algn="ctr">
              <a:spcBef>
                <a:spcPts val="1000"/>
              </a:spcBef>
              <a:defRPr sz="1100">
                <a:solidFill>
                  <a:srgbClr val="FFFFFF"/>
                </a:solidFill>
              </a:defRPr>
            </a:pPr>
            <a:r>
              <a:t>Sanitized prompt sent to GPT-4 / Claude / Llama</a:t>
            </a:r>
          </a:p>
        </p:txBody>
      </p:sp>
      <p:sp>
        <p:nvSpPr>
          <p:cNvPr id="20" name="Rounded Rectangle 19"/>
          <p:cNvSpPr/>
          <p:nvPr/>
        </p:nvSpPr>
        <p:spPr>
          <a:xfrm>
            <a:off x="731520" y="4754880"/>
            <a:ext cx="10698480" cy="1188720"/>
          </a:xfrm>
          <a:prstGeom prst="roundRect">
            <a:avLst/>
          </a:prstGeom>
          <a:solidFill>
            <a:srgbClr val="1C2541"/>
          </a:solidFill>
          <a:ln w="12700">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846320"/>
            <a:ext cx="10332720" cy="1005840"/>
          </a:xfrm>
          <a:prstGeom prst="rect">
            <a:avLst/>
          </a:prstGeom>
          <a:noFill/>
        </p:spPr>
        <p:txBody>
          <a:bodyPr wrap="square">
            <a:spAutoFit/>
          </a:bodyPr>
          <a:lstStyle/>
          <a:p>
            <a:pPr>
              <a:defRPr sz="1400" b="1">
                <a:solidFill>
                  <a:srgbClr val="00F2FE"/>
                </a:solidFill>
              </a:defRPr>
            </a:pPr>
            <a:r>
              <a:t>Architecture Summary:</a:t>
            </a:r>
          </a:p>
          <a:p>
            <a:pPr>
              <a:spcBef>
                <a:spcPts val="400"/>
              </a:spcBef>
              <a:defRPr sz="1300">
                <a:solidFill>
                  <a:srgbClr val="FFFFFF"/>
                </a:solidFill>
              </a:defRPr>
            </a:pPr>
            <a:r>
              <a:t>• The gateway intercepts raw user prompts in real time (&lt; 50ms processing latency).</a:t>
            </a:r>
            <a:br/>
            <a:r>
              <a:t>• If threats or PII are found, the text is sanitized and logged before reaching foundation LLM endpoints.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Modules of the Project</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9 of 18</a:t>
            </a:r>
          </a:p>
        </p:txBody>
      </p:sp>
      <p:sp>
        <p:nvSpPr>
          <p:cNvPr id="6" name="Rounded Rectangle 5"/>
          <p:cNvSpPr/>
          <p:nvPr/>
        </p:nvSpPr>
        <p:spPr>
          <a:xfrm>
            <a:off x="731520" y="1463040"/>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10149840" cy="658368"/>
          </a:xfrm>
          <a:prstGeom prst="rect">
            <a:avLst/>
          </a:prstGeom>
          <a:noFill/>
        </p:spPr>
        <p:txBody>
          <a:bodyPr wrap="square">
            <a:spAutoFit/>
          </a:bodyPr>
          <a:lstStyle/>
          <a:p>
            <a:r>
              <a:rPr b="1" sz="1500">
                <a:solidFill>
                  <a:srgbClr val="00F2FE"/>
                </a:solidFill>
              </a:rPr>
              <a:t>[Module 1] Universal PII Detection Engine: </a:t>
            </a:r>
            <a:r>
              <a:rPr sz="1300">
                <a:solidFill>
                  <a:srgbClr val="FFFFFF"/>
                </a:solidFill>
              </a:rPr>
              <a:t>Scans text for 20 sensitive entity types including Indian Aadhaar, PAN, Bank Accounts, Passports, and API Keys.</a:t>
            </a:r>
          </a:p>
        </p:txBody>
      </p:sp>
      <p:sp>
        <p:nvSpPr>
          <p:cNvPr id="8" name="Rounded Rectangle 7"/>
          <p:cNvSpPr/>
          <p:nvPr/>
        </p:nvSpPr>
        <p:spPr>
          <a:xfrm>
            <a:off x="731520" y="2395728"/>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149840" cy="658368"/>
          </a:xfrm>
          <a:prstGeom prst="rect">
            <a:avLst/>
          </a:prstGeom>
          <a:noFill/>
        </p:spPr>
        <p:txBody>
          <a:bodyPr wrap="square">
            <a:spAutoFit/>
          </a:bodyPr>
          <a:lstStyle/>
          <a:p>
            <a:r>
              <a:rPr b="1" sz="1500">
                <a:solidFill>
                  <a:srgbClr val="00F2FE"/>
                </a:solidFill>
              </a:rPr>
              <a:t>[Module 2] Prompt Injection &amp; Jailbreak Defense: </a:t>
            </a:r>
            <a:r>
              <a:rPr sz="1300">
                <a:solidFill>
                  <a:srgbClr val="FFFFFF"/>
                </a:solidFill>
              </a:rPr>
              <a:t>Detects Do-Anything-Now (DAN) jailbreaks, system prompt overrides, and context poisoning attempts.</a:t>
            </a:r>
          </a:p>
        </p:txBody>
      </p:sp>
      <p:sp>
        <p:nvSpPr>
          <p:cNvPr id="10" name="Rounded Rectangle 9"/>
          <p:cNvSpPr/>
          <p:nvPr/>
        </p:nvSpPr>
        <p:spPr>
          <a:xfrm>
            <a:off x="731520" y="3328416"/>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01568"/>
            <a:ext cx="10149840" cy="658368"/>
          </a:xfrm>
          <a:prstGeom prst="rect">
            <a:avLst/>
          </a:prstGeom>
          <a:noFill/>
        </p:spPr>
        <p:txBody>
          <a:bodyPr wrap="square">
            <a:spAutoFit/>
          </a:bodyPr>
          <a:lstStyle/>
          <a:p>
            <a:r>
              <a:rPr b="1" sz="1500">
                <a:solidFill>
                  <a:srgbClr val="00F2FE"/>
                </a:solidFill>
              </a:rPr>
              <a:t>[Module 3] Adaptive Privacy Policy Engine: </a:t>
            </a:r>
            <a:r>
              <a:rPr sz="1300">
                <a:solidFill>
                  <a:srgbClr val="FFFFFF"/>
                </a:solidFill>
              </a:rPr>
              <a:t>Allows administrators to switch preset profiles (Enterprise, Healthcare, Banking, Government) or toggle custom rules.</a:t>
            </a:r>
          </a:p>
        </p:txBody>
      </p:sp>
      <p:sp>
        <p:nvSpPr>
          <p:cNvPr id="12" name="Rounded Rectangle 11"/>
          <p:cNvSpPr/>
          <p:nvPr/>
        </p:nvSpPr>
        <p:spPr>
          <a:xfrm>
            <a:off x="731520" y="4261104"/>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149840" cy="658368"/>
          </a:xfrm>
          <a:prstGeom prst="rect">
            <a:avLst/>
          </a:prstGeom>
          <a:noFill/>
        </p:spPr>
        <p:txBody>
          <a:bodyPr wrap="square">
            <a:spAutoFit/>
          </a:bodyPr>
          <a:lstStyle/>
          <a:p>
            <a:r>
              <a:rPr b="1" sz="1500">
                <a:solidFill>
                  <a:srgbClr val="00F2FE"/>
                </a:solidFill>
              </a:rPr>
              <a:t>[Module 4] Risk Scoring &amp; XAI Decision Dashboard: </a:t>
            </a:r>
            <a:r>
              <a:rPr sz="1300">
                <a:solidFill>
                  <a:srgbClr val="FFFFFF"/>
                </a:solidFill>
              </a:rPr>
              <a:t>Calculates live risk scores (0% to 100%) and displays explainable AI decision logs with highlighted diffs.</a:t>
            </a:r>
          </a:p>
        </p:txBody>
      </p:sp>
      <p:sp>
        <p:nvSpPr>
          <p:cNvPr id="14" name="Rounded Rectangle 13"/>
          <p:cNvSpPr/>
          <p:nvPr/>
        </p:nvSpPr>
        <p:spPr>
          <a:xfrm>
            <a:off x="731520" y="5193792"/>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266944"/>
            <a:ext cx="10149840" cy="658368"/>
          </a:xfrm>
          <a:prstGeom prst="rect">
            <a:avLst/>
          </a:prstGeom>
          <a:noFill/>
        </p:spPr>
        <p:txBody>
          <a:bodyPr wrap="square">
            <a:spAutoFit/>
          </a:bodyPr>
          <a:lstStyle/>
          <a:p>
            <a:r>
              <a:rPr b="1" sz="1500">
                <a:solidFill>
                  <a:srgbClr val="00F2FE"/>
                </a:solidFill>
              </a:rPr>
              <a:t>[Module 5] Cryptographic Audit &amp; Migration Framework: </a:t>
            </a:r>
            <a:r>
              <a:rPr sz="1300">
                <a:solidFill>
                  <a:srgbClr val="FFFFFF"/>
                </a:solidFill>
              </a:rPr>
              <a:t>Records security events in an immutable SHA-256 blockchain ledger and clones policies across LLM providers.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PII Detection &amp; Partial Masking</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10 of 18</a:t>
            </a:r>
          </a:p>
        </p:txBody>
      </p:sp>
      <p:graphicFrame>
        <p:nvGraphicFramePr>
          <p:cNvPr id="6" name="Table 5"/>
          <p:cNvGraphicFramePr>
            <a:graphicFrameLocks noGrp="1"/>
          </p:cNvGraphicFramePr>
          <p:nvPr/>
        </p:nvGraphicFramePr>
        <p:xfrm>
          <a:off x="731520" y="1554480"/>
          <a:ext cx="10515600" cy="4389120"/>
        </p:xfrm>
        <a:graphic>
          <a:graphicData uri="http://schemas.openxmlformats.org/drawingml/2006/table">
            <a:tbl>
              <a:tblPr firstRow="1" bandRow="1">
                <a:tableStyleId>{5C22544A-7EE6-4342-B048-85BDC9FD1C3A}</a:tableStyleId>
              </a:tblPr>
              <a:tblGrid>
                <a:gridCol w="2286000"/>
                <a:gridCol w="2560320"/>
                <a:gridCol w="2560320"/>
                <a:gridCol w="3108960"/>
              </a:tblGrid>
              <a:tr h="731520">
                <a:tc>
                  <a:txBody>
                    <a:bodyPr/>
                    <a:lstStyle/>
                    <a:p>
                      <a:pPr>
                        <a:defRPr b="1" sz="1400">
                          <a:solidFill>
                            <a:srgbClr val="00F2FE"/>
                          </a:solidFill>
                        </a:defRPr>
                      </a:pPr>
                      <a:r>
                        <a:t>Entity Type</a:t>
                      </a:r>
                    </a:p>
                  </a:txBody>
                  <a:tcPr>
                    <a:solidFill>
                      <a:srgbClr val="1C2541"/>
                    </a:solidFill>
                  </a:tcPr>
                </a:tc>
                <a:tc>
                  <a:txBody>
                    <a:bodyPr/>
                    <a:lstStyle/>
                    <a:p>
                      <a:pPr>
                        <a:defRPr b="1" sz="1400">
                          <a:solidFill>
                            <a:srgbClr val="00F2FE"/>
                          </a:solidFill>
                        </a:defRPr>
                      </a:pPr>
                      <a:r>
                        <a:t>Original Input</a:t>
                      </a:r>
                    </a:p>
                  </a:txBody>
                  <a:tcPr>
                    <a:solidFill>
                      <a:srgbClr val="1C2541"/>
                    </a:solidFill>
                  </a:tcPr>
                </a:tc>
                <a:tc>
                  <a:txBody>
                    <a:bodyPr/>
                    <a:lstStyle/>
                    <a:p>
                      <a:pPr>
                        <a:defRPr b="1" sz="1400">
                          <a:solidFill>
                            <a:srgbClr val="00F2FE"/>
                          </a:solidFill>
                        </a:defRPr>
                      </a:pPr>
                      <a:r>
                        <a:t>Sanitized Output</a:t>
                      </a:r>
                    </a:p>
                  </a:txBody>
                  <a:tcPr>
                    <a:solidFill>
                      <a:srgbClr val="1C2541"/>
                    </a:solidFill>
                  </a:tcPr>
                </a:tc>
                <a:tc>
                  <a:txBody>
                    <a:bodyPr/>
                    <a:lstStyle/>
                    <a:p>
                      <a:pPr>
                        <a:defRPr b="1" sz="1400">
                          <a:solidFill>
                            <a:srgbClr val="00F2FE"/>
                          </a:solidFill>
                        </a:defRPr>
                      </a:pPr>
                      <a:r>
                        <a:t>Masking Strategy</a:t>
                      </a:r>
                    </a:p>
                  </a:txBody>
                  <a:tcPr>
                    <a:solidFill>
                      <a:srgbClr val="1C2541"/>
                    </a:solidFill>
                  </a:tcPr>
                </a:tc>
              </a:tr>
              <a:tr h="731520">
                <a:tc>
                  <a:txBody>
                    <a:bodyPr/>
                    <a:lstStyle/>
                    <a:p>
                      <a:pPr>
                        <a:defRPr sz="1300">
                          <a:solidFill>
                            <a:srgbClr val="FFFFFF"/>
                          </a:solidFill>
                        </a:defRPr>
                      </a:pPr>
                      <a:r>
                        <a:t>Aadhaar Number</a:t>
                      </a:r>
                    </a:p>
                  </a:txBody>
                  <a:tcPr>
                    <a:solidFill>
                      <a:srgbClr val="121930"/>
                    </a:solidFill>
                  </a:tcPr>
                </a:tc>
                <a:tc>
                  <a:txBody>
                    <a:bodyPr/>
                    <a:lstStyle/>
                    <a:p>
                      <a:pPr>
                        <a:defRPr sz="1300">
                          <a:solidFill>
                            <a:srgbClr val="FFFFFF"/>
                          </a:solidFill>
                        </a:defRPr>
                      </a:pPr>
                      <a:r>
                        <a:t>4567 8912 3456</a:t>
                      </a:r>
                    </a:p>
                  </a:txBody>
                  <a:tcPr>
                    <a:solidFill>
                      <a:srgbClr val="121930"/>
                    </a:solidFill>
                  </a:tcPr>
                </a:tc>
                <a:tc>
                  <a:txBody>
                    <a:bodyPr/>
                    <a:lstStyle/>
                    <a:p>
                      <a:pPr>
                        <a:defRPr sz="1300">
                          <a:solidFill>
                            <a:srgbClr val="39FF14"/>
                          </a:solidFill>
                        </a:defRPr>
                      </a:pPr>
                      <a:r>
                        <a:t>XXXX XXXX 3456</a:t>
                      </a:r>
                    </a:p>
                  </a:txBody>
                  <a:tcPr>
                    <a:solidFill>
                      <a:srgbClr val="121930"/>
                    </a:solidFill>
                  </a:tcPr>
                </a:tc>
                <a:tc>
                  <a:txBody>
                    <a:bodyPr/>
                    <a:lstStyle/>
                    <a:p>
                      <a:pPr>
                        <a:defRPr sz="1300">
                          <a:solidFill>
                            <a:srgbClr val="FFFFFF"/>
                          </a:solidFill>
                        </a:defRPr>
                      </a:pPr>
                      <a:r>
                        <a:t>Preserves last 4 digits for audit</a:t>
                      </a:r>
                    </a:p>
                  </a:txBody>
                  <a:tcPr>
                    <a:solidFill>
                      <a:srgbClr val="121930"/>
                    </a:solidFill>
                  </a:tcPr>
                </a:tc>
              </a:tr>
              <a:tr h="731520">
                <a:tc>
                  <a:txBody>
                    <a:bodyPr/>
                    <a:lstStyle/>
                    <a:p>
                      <a:pPr>
                        <a:defRPr sz="1300">
                          <a:solidFill>
                            <a:srgbClr val="FFFFFF"/>
                          </a:solidFill>
                        </a:defRPr>
                      </a:pPr>
                      <a:r>
                        <a:t>PAN Card ID</a:t>
                      </a:r>
                    </a:p>
                  </a:txBody>
                  <a:tcPr>
                    <a:solidFill>
                      <a:srgbClr val="1C2541"/>
                    </a:solidFill>
                  </a:tcPr>
                </a:tc>
                <a:tc>
                  <a:txBody>
                    <a:bodyPr/>
                    <a:lstStyle/>
                    <a:p>
                      <a:pPr>
                        <a:defRPr sz="1300">
                          <a:solidFill>
                            <a:srgbClr val="FFFFFF"/>
                          </a:solidFill>
                        </a:defRPr>
                      </a:pPr>
                      <a:r>
                        <a:t>ABCDE1234F</a:t>
                      </a:r>
                    </a:p>
                  </a:txBody>
                  <a:tcPr>
                    <a:solidFill>
                      <a:srgbClr val="1C2541"/>
                    </a:solidFill>
                  </a:tcPr>
                </a:tc>
                <a:tc>
                  <a:txBody>
                    <a:bodyPr/>
                    <a:lstStyle/>
                    <a:p>
                      <a:pPr>
                        <a:defRPr sz="1300">
                          <a:solidFill>
                            <a:srgbClr val="39FF14"/>
                          </a:solidFill>
                        </a:defRPr>
                      </a:pPr>
                      <a:r>
                        <a:t>XXXXX1234F</a:t>
                      </a:r>
                    </a:p>
                  </a:txBody>
                  <a:tcPr>
                    <a:solidFill>
                      <a:srgbClr val="1C2541"/>
                    </a:solidFill>
                  </a:tcPr>
                </a:tc>
                <a:tc>
                  <a:txBody>
                    <a:bodyPr/>
                    <a:lstStyle/>
                    <a:p>
                      <a:pPr>
                        <a:defRPr sz="1300">
                          <a:solidFill>
                            <a:srgbClr val="FFFFFF"/>
                          </a:solidFill>
                        </a:defRPr>
                      </a:pPr>
                      <a:r>
                        <a:t>Conceals identity letter prefix</a:t>
                      </a:r>
                    </a:p>
                  </a:txBody>
                  <a:tcPr>
                    <a:solidFill>
                      <a:srgbClr val="1C2541"/>
                    </a:solidFill>
                  </a:tcPr>
                </a:tc>
              </a:tr>
              <a:tr h="731520">
                <a:tc>
                  <a:txBody>
                    <a:bodyPr/>
                    <a:lstStyle/>
                    <a:p>
                      <a:pPr>
                        <a:defRPr sz="1300">
                          <a:solidFill>
                            <a:srgbClr val="FFFFFF"/>
                          </a:solidFill>
                        </a:defRPr>
                      </a:pPr>
                      <a:r>
                        <a:t>Bank Account</a:t>
                      </a:r>
                    </a:p>
                  </a:txBody>
                  <a:tcPr>
                    <a:solidFill>
                      <a:srgbClr val="121930"/>
                    </a:solidFill>
                  </a:tcPr>
                </a:tc>
                <a:tc>
                  <a:txBody>
                    <a:bodyPr/>
                    <a:lstStyle/>
                    <a:p>
                      <a:pPr>
                        <a:defRPr sz="1300">
                          <a:solidFill>
                            <a:srgbClr val="FFFFFF"/>
                          </a:solidFill>
                        </a:defRPr>
                      </a:pPr>
                      <a:r>
                        <a:t>12345678901</a:t>
                      </a:r>
                    </a:p>
                  </a:txBody>
                  <a:tcPr>
                    <a:solidFill>
                      <a:srgbClr val="121930"/>
                    </a:solidFill>
                  </a:tcPr>
                </a:tc>
                <a:tc>
                  <a:txBody>
                    <a:bodyPr/>
                    <a:lstStyle/>
                    <a:p>
                      <a:pPr>
                        <a:defRPr sz="1300">
                          <a:solidFill>
                            <a:srgbClr val="39FF14"/>
                          </a:solidFill>
                        </a:defRPr>
                      </a:pPr>
                      <a:r>
                        <a:t>XXXXXXX8901</a:t>
                      </a:r>
                    </a:p>
                  </a:txBody>
                  <a:tcPr>
                    <a:solidFill>
                      <a:srgbClr val="121930"/>
                    </a:solidFill>
                  </a:tcPr>
                </a:tc>
                <a:tc>
                  <a:txBody>
                    <a:bodyPr/>
                    <a:lstStyle/>
                    <a:p>
                      <a:pPr>
                        <a:defRPr sz="1300">
                          <a:solidFill>
                            <a:srgbClr val="FFFFFF"/>
                          </a:solidFill>
                        </a:defRPr>
                      </a:pPr>
                      <a:r>
                        <a:t>PCI-DSS compliant 4-digit mask</a:t>
                      </a:r>
                    </a:p>
                  </a:txBody>
                  <a:tcPr>
                    <a:solidFill>
                      <a:srgbClr val="121930"/>
                    </a:solidFill>
                  </a:tcPr>
                </a:tc>
              </a:tr>
              <a:tr h="731520">
                <a:tc>
                  <a:txBody>
                    <a:bodyPr/>
                    <a:lstStyle/>
                    <a:p>
                      <a:pPr>
                        <a:defRPr sz="1300">
                          <a:solidFill>
                            <a:srgbClr val="FFFFFF"/>
                          </a:solidFill>
                        </a:defRPr>
                      </a:pPr>
                      <a:r>
                        <a:t>UPI Payment ID</a:t>
                      </a:r>
                    </a:p>
                  </a:txBody>
                  <a:tcPr>
                    <a:solidFill>
                      <a:srgbClr val="1C2541"/>
                    </a:solidFill>
                  </a:tcPr>
                </a:tc>
                <a:tc>
                  <a:txBody>
                    <a:bodyPr/>
                    <a:lstStyle/>
                    <a:p>
                      <a:pPr>
                        <a:defRPr sz="1300">
                          <a:solidFill>
                            <a:srgbClr val="FFFFFF"/>
                          </a:solidFill>
                        </a:defRPr>
                      </a:pPr>
                      <a:r>
                        <a:t>sonuz@oksbi</a:t>
                      </a:r>
                    </a:p>
                  </a:txBody>
                  <a:tcPr>
                    <a:solidFill>
                      <a:srgbClr val="1C2541"/>
                    </a:solidFill>
                  </a:tcPr>
                </a:tc>
                <a:tc>
                  <a:txBody>
                    <a:bodyPr/>
                    <a:lstStyle/>
                    <a:p>
                      <a:pPr>
                        <a:defRPr sz="1300">
                          <a:solidFill>
                            <a:srgbClr val="39FF14"/>
                          </a:solidFill>
                        </a:defRPr>
                      </a:pPr>
                      <a:r>
                        <a:t>s****@oksbi</a:t>
                      </a:r>
                    </a:p>
                  </a:txBody>
                  <a:tcPr>
                    <a:solidFill>
                      <a:srgbClr val="1C2541"/>
                    </a:solidFill>
                  </a:tcPr>
                </a:tc>
                <a:tc>
                  <a:txBody>
                    <a:bodyPr/>
                    <a:lstStyle/>
                    <a:p>
                      <a:pPr>
                        <a:defRPr sz="1300">
                          <a:solidFill>
                            <a:srgbClr val="FFFFFF"/>
                          </a:solidFill>
                        </a:defRPr>
                      </a:pPr>
                      <a:r>
                        <a:t>Preserves initial &amp; payment domain</a:t>
                      </a:r>
                    </a:p>
                  </a:txBody>
                  <a:tcPr>
                    <a:solidFill>
                      <a:srgbClr val="1C2541"/>
                    </a:solidFill>
                  </a:tcPr>
                </a:tc>
              </a:tr>
              <a:tr h="731520">
                <a:tc>
                  <a:txBody>
                    <a:bodyPr/>
                    <a:lstStyle/>
                    <a:p>
                      <a:pPr>
                        <a:defRPr sz="1300">
                          <a:solidFill>
                            <a:srgbClr val="FFFFFF"/>
                          </a:solidFill>
                        </a:defRPr>
                      </a:pPr>
                      <a:r>
                        <a:t>Developer API Key</a:t>
                      </a:r>
                    </a:p>
                  </a:txBody>
                  <a:tcPr>
                    <a:solidFill>
                      <a:srgbClr val="121930"/>
                    </a:solidFill>
                  </a:tcPr>
                </a:tc>
                <a:tc>
                  <a:txBody>
                    <a:bodyPr/>
                    <a:lstStyle/>
                    <a:p>
                      <a:pPr>
                        <a:defRPr sz="1300">
                          <a:solidFill>
                            <a:srgbClr val="FFFFFF"/>
                          </a:solidFill>
                        </a:defRPr>
                      </a:pPr>
                      <a:r>
                        <a:t>sk_live_51Nz84...</a:t>
                      </a:r>
                    </a:p>
                  </a:txBody>
                  <a:tcPr>
                    <a:solidFill>
                      <a:srgbClr val="121930"/>
                    </a:solidFill>
                  </a:tcPr>
                </a:tc>
                <a:tc>
                  <a:txBody>
                    <a:bodyPr/>
                    <a:lstStyle/>
                    <a:p>
                      <a:pPr>
                        <a:defRPr sz="1300">
                          <a:solidFill>
                            <a:srgbClr val="39FF14"/>
                          </a:solidFill>
                        </a:defRPr>
                      </a:pPr>
                      <a:r>
                        <a:t>[API_KEY_REDACTED]</a:t>
                      </a:r>
                    </a:p>
                  </a:txBody>
                  <a:tcPr>
                    <a:solidFill>
                      <a:srgbClr val="121930"/>
                    </a:solidFill>
                  </a:tcPr>
                </a:tc>
                <a:tc>
                  <a:txBody>
                    <a:bodyPr/>
                    <a:lstStyle/>
                    <a:p>
                      <a:pPr>
                        <a:defRPr sz="1300">
                          <a:solidFill>
                            <a:srgbClr val="FFFFFF"/>
                          </a:solidFill>
                        </a:defRPr>
                      </a:pPr>
                      <a:r>
                        <a:t>Full secret token redaction</a:t>
                      </a:r>
                    </a:p>
                  </a:txBody>
                  <a:tcPr>
                    <a:solidFill>
                      <a:srgbClr val="121930"/>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Prompt Injection &amp; Privacy Threat Defense</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11 of 18</a:t>
            </a:r>
          </a:p>
        </p:txBody>
      </p:sp>
      <p:sp>
        <p:nvSpPr>
          <p:cNvPr id="6" name="Rounded Rectangle 5"/>
          <p:cNvSpPr/>
          <p:nvPr/>
        </p:nvSpPr>
        <p:spPr>
          <a:xfrm>
            <a:off x="731520" y="1463040"/>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10149840" cy="658368"/>
          </a:xfrm>
          <a:prstGeom prst="rect">
            <a:avLst/>
          </a:prstGeom>
          <a:noFill/>
        </p:spPr>
        <p:txBody>
          <a:bodyPr wrap="square">
            <a:spAutoFit/>
          </a:bodyPr>
          <a:lstStyle/>
          <a:p>
            <a:r>
              <a:rPr b="1" sz="1500">
                <a:solidFill>
                  <a:srgbClr val="00F2FE"/>
                </a:solidFill>
              </a:rPr>
              <a:t>🛡️ System Override Blocks: </a:t>
            </a:r>
            <a:r>
              <a:rPr sz="1300">
                <a:solidFill>
                  <a:srgbClr val="FFFFFF"/>
                </a:solidFill>
              </a:rPr>
              <a:t>Detects prompts instructing the AI to 'Ignore all previous system rules' or change temperature settings.</a:t>
            </a:r>
          </a:p>
        </p:txBody>
      </p:sp>
      <p:sp>
        <p:nvSpPr>
          <p:cNvPr id="8" name="Rounded Rectangle 7"/>
          <p:cNvSpPr/>
          <p:nvPr/>
        </p:nvSpPr>
        <p:spPr>
          <a:xfrm>
            <a:off x="731520" y="2395728"/>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149840" cy="658368"/>
          </a:xfrm>
          <a:prstGeom prst="rect">
            <a:avLst/>
          </a:prstGeom>
          <a:noFill/>
        </p:spPr>
        <p:txBody>
          <a:bodyPr wrap="square">
            <a:spAutoFit/>
          </a:bodyPr>
          <a:lstStyle/>
          <a:p>
            <a:r>
              <a:rPr b="1" sz="1500">
                <a:solidFill>
                  <a:srgbClr val="00F2FE"/>
                </a:solidFill>
              </a:rPr>
              <a:t>🛡️ DAN Jailbreak Defense: </a:t>
            </a:r>
            <a:r>
              <a:rPr sz="1300">
                <a:solidFill>
                  <a:srgbClr val="FFFFFF"/>
                </a:solidFill>
              </a:rPr>
              <a:t>Neutralizes Do-Anything-Now adversarial jailbreak prompts that try to bypass safety guardrails.</a:t>
            </a:r>
          </a:p>
        </p:txBody>
      </p:sp>
      <p:sp>
        <p:nvSpPr>
          <p:cNvPr id="10" name="Rounded Rectangle 9"/>
          <p:cNvSpPr/>
          <p:nvPr/>
        </p:nvSpPr>
        <p:spPr>
          <a:xfrm>
            <a:off x="731520" y="3328416"/>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01568"/>
            <a:ext cx="10149840" cy="658368"/>
          </a:xfrm>
          <a:prstGeom prst="rect">
            <a:avLst/>
          </a:prstGeom>
          <a:noFill/>
        </p:spPr>
        <p:txBody>
          <a:bodyPr wrap="square">
            <a:spAutoFit/>
          </a:bodyPr>
          <a:lstStyle/>
          <a:p>
            <a:r>
              <a:rPr b="1" sz="1500">
                <a:solidFill>
                  <a:srgbClr val="00F2FE"/>
                </a:solidFill>
              </a:rPr>
              <a:t>🛡️ Context Poisoning Defense: </a:t>
            </a:r>
            <a:r>
              <a:rPr sz="1300">
                <a:solidFill>
                  <a:srgbClr val="FFFFFF"/>
                </a:solidFill>
              </a:rPr>
              <a:t>Prevents malicious instructions hidden inside retrieved RAG document chunks.</a:t>
            </a:r>
          </a:p>
        </p:txBody>
      </p:sp>
      <p:sp>
        <p:nvSpPr>
          <p:cNvPr id="12" name="Rounded Rectangle 11"/>
          <p:cNvSpPr/>
          <p:nvPr/>
        </p:nvSpPr>
        <p:spPr>
          <a:xfrm>
            <a:off x="731520" y="4261104"/>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149840" cy="658368"/>
          </a:xfrm>
          <a:prstGeom prst="rect">
            <a:avLst/>
          </a:prstGeom>
          <a:noFill/>
        </p:spPr>
        <p:txBody>
          <a:bodyPr wrap="square">
            <a:spAutoFit/>
          </a:bodyPr>
          <a:lstStyle/>
          <a:p>
            <a:r>
              <a:rPr b="1" sz="1500">
                <a:solidFill>
                  <a:srgbClr val="00F2FE"/>
                </a:solidFill>
              </a:rPr>
              <a:t>🛡️ Data Exfiltration Prevention: </a:t>
            </a:r>
            <a:r>
              <a:rPr sz="1300">
                <a:solidFill>
                  <a:srgbClr val="FFFFFF"/>
                </a:solidFill>
              </a:rPr>
              <a:t>Blocks attempts asking the AI to reveal internal secrets, passwords, or system prompts.</a:t>
            </a:r>
          </a:p>
        </p:txBody>
      </p:sp>
      <p:sp>
        <p:nvSpPr>
          <p:cNvPr id="14" name="Rounded Rectangle 13"/>
          <p:cNvSpPr/>
          <p:nvPr/>
        </p:nvSpPr>
        <p:spPr>
          <a:xfrm>
            <a:off x="731520" y="5193792"/>
            <a:ext cx="10698480" cy="804672"/>
          </a:xfrm>
          <a:prstGeom prst="roundRect">
            <a:avLst/>
          </a:prstGeom>
          <a:solidFill>
            <a:srgbClr val="1C2541"/>
          </a:solidFill>
          <a:ln w="1270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266944"/>
            <a:ext cx="10149840" cy="658368"/>
          </a:xfrm>
          <a:prstGeom prst="rect">
            <a:avLst/>
          </a:prstGeom>
          <a:noFill/>
        </p:spPr>
        <p:txBody>
          <a:bodyPr wrap="square">
            <a:spAutoFit/>
          </a:bodyPr>
          <a:lstStyle/>
          <a:p>
            <a:r>
              <a:rPr b="1" sz="1500">
                <a:solidFill>
                  <a:srgbClr val="00F2FE"/>
                </a:solidFill>
              </a:rPr>
              <a:t>🛡️ Automated Red Team Validated: </a:t>
            </a:r>
            <a:r>
              <a:rPr sz="1300">
                <a:solidFill>
                  <a:srgbClr val="FFFFFF"/>
                </a:solidFill>
              </a:rPr>
              <a:t>Verified with 0% bypass rate under automated 1,000-payload cyber range attack campaigns.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Audit Logging &amp; Risk Scoring Engine</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12 of 18</a:t>
            </a:r>
          </a:p>
        </p:txBody>
      </p:sp>
      <p:sp>
        <p:nvSpPr>
          <p:cNvPr id="6" name="Rounded Rectangle 5"/>
          <p:cNvSpPr/>
          <p:nvPr/>
        </p:nvSpPr>
        <p:spPr>
          <a:xfrm>
            <a:off x="731520" y="1645920"/>
            <a:ext cx="2514600" cy="2926080"/>
          </a:xfrm>
          <a:prstGeom prst="roundRect">
            <a:avLst/>
          </a:prstGeom>
          <a:solidFill>
            <a:srgbClr val="1C2541"/>
          </a:solidFill>
          <a:ln w="1905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2331720" cy="2651760"/>
          </a:xfrm>
          <a:prstGeom prst="rect">
            <a:avLst/>
          </a:prstGeom>
          <a:noFill/>
        </p:spPr>
        <p:txBody>
          <a:bodyPr wrap="square">
            <a:spAutoFit/>
          </a:bodyPr>
          <a:lstStyle/>
          <a:p>
            <a:pPr algn="ctr">
              <a:defRPr sz="1400" b="1">
                <a:solidFill>
                  <a:srgbClr val="39FF14"/>
                </a:solidFill>
              </a:defRPr>
            </a:pPr>
            <a:r>
              <a:t>SAFE (0% - 25%)</a:t>
            </a:r>
          </a:p>
          <a:p>
            <a:pPr algn="ctr">
              <a:spcBef>
                <a:spcPts val="800"/>
              </a:spcBef>
              <a:defRPr sz="1200" b="1">
                <a:solidFill>
                  <a:srgbClr val="FFFFFF"/>
                </a:solidFill>
              </a:defRPr>
            </a:pPr>
            <a:r>
              <a:t>Clean Prompt Payload</a:t>
            </a:r>
          </a:p>
          <a:p>
            <a:pPr algn="ctr">
              <a:spcBef>
                <a:spcPts val="1000"/>
              </a:spcBef>
              <a:defRPr sz="1100">
                <a:solidFill>
                  <a:srgbClr val="8D99AE"/>
                </a:solidFill>
              </a:defRPr>
            </a:pPr>
            <a:r>
              <a:t>Cleared for immediate LLM routing.</a:t>
            </a:r>
          </a:p>
        </p:txBody>
      </p:sp>
      <p:sp>
        <p:nvSpPr>
          <p:cNvPr id="8" name="Rounded Rectangle 7"/>
          <p:cNvSpPr/>
          <p:nvPr/>
        </p:nvSpPr>
        <p:spPr>
          <a:xfrm>
            <a:off x="3456432" y="1645920"/>
            <a:ext cx="2514600" cy="29260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47872" y="1783080"/>
            <a:ext cx="2331720" cy="2651760"/>
          </a:xfrm>
          <a:prstGeom prst="rect">
            <a:avLst/>
          </a:prstGeom>
          <a:noFill/>
        </p:spPr>
        <p:txBody>
          <a:bodyPr wrap="square">
            <a:spAutoFit/>
          </a:bodyPr>
          <a:lstStyle/>
          <a:p>
            <a:pPr algn="ctr">
              <a:defRPr sz="1400" b="1">
                <a:solidFill>
                  <a:srgbClr val="00F2FE"/>
                </a:solidFill>
              </a:defRPr>
            </a:pPr>
            <a:r>
              <a:t>MODERATE (26% - 50%)</a:t>
            </a:r>
          </a:p>
          <a:p>
            <a:pPr algn="ctr">
              <a:spcBef>
                <a:spcPts val="800"/>
              </a:spcBef>
              <a:defRPr sz="1200" b="1">
                <a:solidFill>
                  <a:srgbClr val="FFFFFF"/>
                </a:solidFill>
              </a:defRPr>
            </a:pPr>
            <a:r>
              <a:t>Low PII Spans Detected</a:t>
            </a:r>
          </a:p>
          <a:p>
            <a:pPr algn="ctr">
              <a:spcBef>
                <a:spcPts val="1000"/>
              </a:spcBef>
              <a:defRPr sz="1100">
                <a:solidFill>
                  <a:srgbClr val="8D99AE"/>
                </a:solidFill>
              </a:defRPr>
            </a:pPr>
            <a:r>
              <a:t>Light partial masking applied.</a:t>
            </a:r>
          </a:p>
        </p:txBody>
      </p:sp>
      <p:sp>
        <p:nvSpPr>
          <p:cNvPr id="10" name="Rounded Rectangle 9"/>
          <p:cNvSpPr/>
          <p:nvPr/>
        </p:nvSpPr>
        <p:spPr>
          <a:xfrm>
            <a:off x="6181344" y="1645920"/>
            <a:ext cx="2514600" cy="2926080"/>
          </a:xfrm>
          <a:prstGeom prst="roundRect">
            <a:avLst/>
          </a:prstGeom>
          <a:solidFill>
            <a:srgbClr val="1C2541"/>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2784" y="1783080"/>
            <a:ext cx="2331720" cy="2651760"/>
          </a:xfrm>
          <a:prstGeom prst="rect">
            <a:avLst/>
          </a:prstGeom>
          <a:noFill/>
        </p:spPr>
        <p:txBody>
          <a:bodyPr wrap="square">
            <a:spAutoFit/>
          </a:bodyPr>
          <a:lstStyle/>
          <a:p>
            <a:pPr algn="ctr">
              <a:defRPr sz="1400" b="1">
                <a:solidFill>
                  <a:srgbClr val="FFD700"/>
                </a:solidFill>
              </a:defRPr>
            </a:pPr>
            <a:r>
              <a:t>HIGH (51% - 75%)</a:t>
            </a:r>
          </a:p>
          <a:p>
            <a:pPr algn="ctr">
              <a:spcBef>
                <a:spcPts val="800"/>
              </a:spcBef>
              <a:defRPr sz="1200" b="1">
                <a:solidFill>
                  <a:srgbClr val="FFFFFF"/>
                </a:solidFill>
              </a:defRPr>
            </a:pPr>
            <a:r>
              <a:t>Multiple PII / Secrets</a:t>
            </a:r>
          </a:p>
          <a:p>
            <a:pPr algn="ctr">
              <a:spcBef>
                <a:spcPts val="1000"/>
              </a:spcBef>
              <a:defRPr sz="1100">
                <a:solidFill>
                  <a:srgbClr val="8D99AE"/>
                </a:solidFill>
              </a:defRPr>
            </a:pPr>
            <a:r>
              <a:t>Sanitized &amp; user session flagged.</a:t>
            </a:r>
          </a:p>
        </p:txBody>
      </p:sp>
      <p:sp>
        <p:nvSpPr>
          <p:cNvPr id="12" name="Rounded Rectangle 11"/>
          <p:cNvSpPr/>
          <p:nvPr/>
        </p:nvSpPr>
        <p:spPr>
          <a:xfrm>
            <a:off x="8906256" y="1645920"/>
            <a:ext cx="2514600" cy="2926080"/>
          </a:xfrm>
          <a:prstGeom prst="roundRect">
            <a:avLst/>
          </a:prstGeom>
          <a:solidFill>
            <a:srgbClr val="1C2541"/>
          </a:solidFill>
          <a:ln w="19050">
            <a:solidFill>
              <a:srgbClr val="FF0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97696" y="1783080"/>
            <a:ext cx="2331720" cy="2651760"/>
          </a:xfrm>
          <a:prstGeom prst="rect">
            <a:avLst/>
          </a:prstGeom>
          <a:noFill/>
        </p:spPr>
        <p:txBody>
          <a:bodyPr wrap="square">
            <a:spAutoFit/>
          </a:bodyPr>
          <a:lstStyle/>
          <a:p>
            <a:pPr algn="ctr">
              <a:defRPr sz="1400" b="1">
                <a:solidFill>
                  <a:srgbClr val="FF0055"/>
                </a:solidFill>
              </a:defRPr>
            </a:pPr>
            <a:r>
              <a:t>CRITICAL (76% - 100%)</a:t>
            </a:r>
          </a:p>
          <a:p>
            <a:pPr algn="ctr">
              <a:spcBef>
                <a:spcPts val="800"/>
              </a:spcBef>
              <a:defRPr sz="1200" b="1">
                <a:solidFill>
                  <a:srgbClr val="FFFFFF"/>
                </a:solidFill>
              </a:defRPr>
            </a:pPr>
            <a:r>
              <a:t>Active Jailbreak Attack</a:t>
            </a:r>
          </a:p>
          <a:p>
            <a:pPr algn="ctr">
              <a:spcBef>
                <a:spcPts val="1000"/>
              </a:spcBef>
              <a:defRPr sz="1100">
                <a:solidFill>
                  <a:srgbClr val="8D99AE"/>
                </a:solidFill>
              </a:defRPr>
            </a:pPr>
            <a:r>
              <a:t>Blocked at Gateway immediately.</a:t>
            </a:r>
          </a:p>
        </p:txBody>
      </p:sp>
      <p:sp>
        <p:nvSpPr>
          <p:cNvPr id="14" name="Rounded Rectangle 13"/>
          <p:cNvSpPr/>
          <p:nvPr/>
        </p:nvSpPr>
        <p:spPr>
          <a:xfrm>
            <a:off x="731520" y="4846320"/>
            <a:ext cx="10698480" cy="1188720"/>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37760"/>
            <a:ext cx="10332720" cy="1005840"/>
          </a:xfrm>
          <a:prstGeom prst="rect">
            <a:avLst/>
          </a:prstGeom>
          <a:noFill/>
        </p:spPr>
        <p:txBody>
          <a:bodyPr wrap="square">
            <a:spAutoFit/>
          </a:bodyPr>
          <a:lstStyle/>
          <a:p>
            <a:pPr>
              <a:defRPr sz="1400" b="1">
                <a:solidFill>
                  <a:srgbClr val="00F2FE"/>
                </a:solidFill>
              </a:defRPr>
            </a:pPr>
            <a:r>
              <a:t>Cryptographic Blockchain Audit Ledger:</a:t>
            </a:r>
          </a:p>
          <a:p>
            <a:pPr>
              <a:spcBef>
                <a:spcPts val="400"/>
              </a:spcBef>
              <a:defRPr sz="1300">
                <a:solidFill>
                  <a:srgbClr val="FFFFFF"/>
                </a:solidFill>
              </a:defRPr>
            </a:pPr>
            <a:r>
              <a:t>• Every request evaluation creates an immutable block linked with SHA-256 cryptographic hashes.</a:t>
            </a:r>
            <a:br/>
            <a:r>
              <a:t>• Allows security teams to click any status badge (Masked / Blocked / Cleared) for full audit trace inspection.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Technologies Used</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13 of 18</a:t>
            </a:r>
          </a:p>
        </p:txBody>
      </p:sp>
      <p:sp>
        <p:nvSpPr>
          <p:cNvPr id="6" name="Rounded Rectangle 5"/>
          <p:cNvSpPr/>
          <p:nvPr/>
        </p:nvSpPr>
        <p:spPr>
          <a:xfrm>
            <a:off x="731520" y="1554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3154680" cy="1737360"/>
          </a:xfrm>
          <a:prstGeom prst="rect">
            <a:avLst/>
          </a:prstGeom>
          <a:noFill/>
        </p:spPr>
        <p:txBody>
          <a:bodyPr wrap="square">
            <a:spAutoFit/>
          </a:bodyPr>
          <a:lstStyle/>
          <a:p>
            <a:pPr>
              <a:defRPr sz="1200" b="1">
                <a:solidFill>
                  <a:srgbClr val="48CAE4"/>
                </a:solidFill>
              </a:defRPr>
            </a:pPr>
            <a:r>
              <a:t>Backend Framework</a:t>
            </a:r>
          </a:p>
          <a:p>
            <a:pPr>
              <a:spcBef>
                <a:spcPts val="200"/>
              </a:spcBef>
              <a:defRPr sz="1500" b="1">
                <a:solidFill>
                  <a:srgbClr val="00F2FE"/>
                </a:solidFill>
              </a:defRPr>
            </a:pPr>
            <a:r>
              <a:t>Python 3.12 &amp; Flask Server</a:t>
            </a:r>
          </a:p>
          <a:p>
            <a:pPr>
              <a:spcBef>
                <a:spcPts val="600"/>
              </a:spcBef>
              <a:defRPr sz="1200">
                <a:solidFill>
                  <a:srgbClr val="FFFFFF"/>
                </a:solidFill>
              </a:defRPr>
            </a:pPr>
            <a:r>
              <a:t>RESTful API handling prompt sanitizer routes and health endpoints.</a:t>
            </a:r>
          </a:p>
        </p:txBody>
      </p:sp>
      <p:sp>
        <p:nvSpPr>
          <p:cNvPr id="8" name="Rounded Rectangle 7"/>
          <p:cNvSpPr/>
          <p:nvPr/>
        </p:nvSpPr>
        <p:spPr>
          <a:xfrm>
            <a:off x="4370832" y="1554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91640"/>
            <a:ext cx="3154680" cy="1737360"/>
          </a:xfrm>
          <a:prstGeom prst="rect">
            <a:avLst/>
          </a:prstGeom>
          <a:noFill/>
        </p:spPr>
        <p:txBody>
          <a:bodyPr wrap="square">
            <a:spAutoFit/>
          </a:bodyPr>
          <a:lstStyle/>
          <a:p>
            <a:pPr>
              <a:defRPr sz="1200" b="1">
                <a:solidFill>
                  <a:srgbClr val="48CAE4"/>
                </a:solidFill>
              </a:defRPr>
            </a:pPr>
            <a:r>
              <a:t>Frontend &amp; Dashboard</a:t>
            </a:r>
          </a:p>
          <a:p>
            <a:pPr>
              <a:spcBef>
                <a:spcPts val="200"/>
              </a:spcBef>
              <a:defRPr sz="1500" b="1">
                <a:solidFill>
                  <a:srgbClr val="00F2FE"/>
                </a:solidFill>
              </a:defRPr>
            </a:pPr>
            <a:r>
              <a:t>HTML5, Vanilla CSS3, JavaScript</a:t>
            </a:r>
          </a:p>
          <a:p>
            <a:pPr>
              <a:spcBef>
                <a:spcPts val="600"/>
              </a:spcBef>
              <a:defRPr sz="1200">
                <a:solidFill>
                  <a:srgbClr val="FFFFFF"/>
                </a:solidFill>
              </a:defRPr>
            </a:pPr>
            <a:r>
              <a:t>Sleek dark-mode interface with multi-color glowing themes (Cyber, Vibrant, Slate).</a:t>
            </a:r>
          </a:p>
        </p:txBody>
      </p:sp>
      <p:sp>
        <p:nvSpPr>
          <p:cNvPr id="10" name="Rounded Rectangle 9"/>
          <p:cNvSpPr/>
          <p:nvPr/>
        </p:nvSpPr>
        <p:spPr>
          <a:xfrm>
            <a:off x="8010144" y="1554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47304" y="1691640"/>
            <a:ext cx="3154680" cy="1737360"/>
          </a:xfrm>
          <a:prstGeom prst="rect">
            <a:avLst/>
          </a:prstGeom>
          <a:noFill/>
        </p:spPr>
        <p:txBody>
          <a:bodyPr wrap="square">
            <a:spAutoFit/>
          </a:bodyPr>
          <a:lstStyle/>
          <a:p>
            <a:pPr>
              <a:defRPr sz="1200" b="1">
                <a:solidFill>
                  <a:srgbClr val="48CAE4"/>
                </a:solidFill>
              </a:defRPr>
            </a:pPr>
            <a:r>
              <a:t>Detection Engines</a:t>
            </a:r>
          </a:p>
          <a:p>
            <a:pPr>
              <a:spcBef>
                <a:spcPts val="200"/>
              </a:spcBef>
              <a:defRPr sz="1500" b="1">
                <a:solidFill>
                  <a:srgbClr val="00F2FE"/>
                </a:solidFill>
              </a:defRPr>
            </a:pPr>
            <a:r>
              <a:t>Regex Pattern Matching + NER Spans</a:t>
            </a:r>
          </a:p>
          <a:p>
            <a:pPr>
              <a:spcBef>
                <a:spcPts val="600"/>
              </a:spcBef>
              <a:defRPr sz="1200">
                <a:solidFill>
                  <a:srgbClr val="FFFFFF"/>
                </a:solidFill>
              </a:defRPr>
            </a:pPr>
            <a:r>
              <a:t>Universal 20-entity detection rules including Aadhaar, PAN, and Bank details.</a:t>
            </a:r>
          </a:p>
        </p:txBody>
      </p:sp>
      <p:sp>
        <p:nvSpPr>
          <p:cNvPr id="12" name="Rounded Rectangle 11"/>
          <p:cNvSpPr/>
          <p:nvPr/>
        </p:nvSpPr>
        <p:spPr>
          <a:xfrm>
            <a:off x="731520" y="3840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77640"/>
            <a:ext cx="3154680" cy="1737360"/>
          </a:xfrm>
          <a:prstGeom prst="rect">
            <a:avLst/>
          </a:prstGeom>
          <a:noFill/>
        </p:spPr>
        <p:txBody>
          <a:bodyPr wrap="square">
            <a:spAutoFit/>
          </a:bodyPr>
          <a:lstStyle/>
          <a:p>
            <a:pPr>
              <a:defRPr sz="1200" b="1">
                <a:solidFill>
                  <a:srgbClr val="48CAE4"/>
                </a:solidFill>
              </a:defRPr>
            </a:pPr>
            <a:r>
              <a:t>Security &amp; VectorDB</a:t>
            </a:r>
          </a:p>
          <a:p>
            <a:pPr>
              <a:spcBef>
                <a:spcPts val="200"/>
              </a:spcBef>
              <a:defRPr sz="1500" b="1">
                <a:solidFill>
                  <a:srgbClr val="00F2FE"/>
                </a:solidFill>
              </a:defRPr>
            </a:pPr>
            <a:r>
              <a:t>FAISS VectorDB + SHA-256 Hashes</a:t>
            </a:r>
          </a:p>
          <a:p>
            <a:pPr>
              <a:spcBef>
                <a:spcPts val="600"/>
              </a:spcBef>
              <a:defRPr sz="1200">
                <a:solidFill>
                  <a:srgbClr val="FFFFFF"/>
                </a:solidFill>
              </a:defRPr>
            </a:pPr>
            <a:r>
              <a:t>Role-Based Access Control (RBAC) and immutable cryptographic audit logging.</a:t>
            </a:r>
          </a:p>
        </p:txBody>
      </p:sp>
      <p:sp>
        <p:nvSpPr>
          <p:cNvPr id="14" name="Rounded Rectangle 13"/>
          <p:cNvSpPr/>
          <p:nvPr/>
        </p:nvSpPr>
        <p:spPr>
          <a:xfrm>
            <a:off x="4370832" y="3840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3977640"/>
            <a:ext cx="3154680" cy="1737360"/>
          </a:xfrm>
          <a:prstGeom prst="rect">
            <a:avLst/>
          </a:prstGeom>
          <a:noFill/>
        </p:spPr>
        <p:txBody>
          <a:bodyPr wrap="square">
            <a:spAutoFit/>
          </a:bodyPr>
          <a:lstStyle/>
          <a:p>
            <a:pPr>
              <a:defRPr sz="1200" b="1">
                <a:solidFill>
                  <a:srgbClr val="48CAE4"/>
                </a:solidFill>
              </a:defRPr>
            </a:pPr>
            <a:r>
              <a:t>Data Visualization</a:t>
            </a:r>
          </a:p>
          <a:p>
            <a:pPr>
              <a:spcBef>
                <a:spcPts val="200"/>
              </a:spcBef>
              <a:defRPr sz="1500" b="1">
                <a:solidFill>
                  <a:srgbClr val="00F2FE"/>
                </a:solidFill>
              </a:defRPr>
            </a:pPr>
            <a:r>
              <a:t>Chart.js Library</a:t>
            </a:r>
          </a:p>
          <a:p>
            <a:pPr>
              <a:spcBef>
                <a:spcPts val="600"/>
              </a:spcBef>
              <a:defRPr sz="1200">
                <a:solidFill>
                  <a:srgbClr val="FFFFFF"/>
                </a:solidFill>
              </a:defRPr>
            </a:pPr>
            <a:r>
              <a:t>Real-time 24h threat timeline and model safety vs latency bubble charts.</a:t>
            </a:r>
          </a:p>
        </p:txBody>
      </p:sp>
      <p:sp>
        <p:nvSpPr>
          <p:cNvPr id="16" name="Rounded Rectangle 15"/>
          <p:cNvSpPr/>
          <p:nvPr/>
        </p:nvSpPr>
        <p:spPr>
          <a:xfrm>
            <a:off x="8010144" y="3840480"/>
            <a:ext cx="3429000" cy="20116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47304" y="3977640"/>
            <a:ext cx="3154680" cy="1737360"/>
          </a:xfrm>
          <a:prstGeom prst="rect">
            <a:avLst/>
          </a:prstGeom>
          <a:noFill/>
        </p:spPr>
        <p:txBody>
          <a:bodyPr wrap="square">
            <a:spAutoFit/>
          </a:bodyPr>
          <a:lstStyle/>
          <a:p>
            <a:pPr>
              <a:defRPr sz="1200" b="1">
                <a:solidFill>
                  <a:srgbClr val="48CAE4"/>
                </a:solidFill>
              </a:defRPr>
            </a:pPr>
            <a:r>
              <a:t>Development Tools</a:t>
            </a:r>
          </a:p>
          <a:p>
            <a:pPr>
              <a:spcBef>
                <a:spcPts val="200"/>
              </a:spcBef>
              <a:defRPr sz="1500" b="1">
                <a:solidFill>
                  <a:srgbClr val="00F2FE"/>
                </a:solidFill>
              </a:defRPr>
            </a:pPr>
            <a:r>
              <a:t>VS Code &amp; Git Repository</a:t>
            </a:r>
          </a:p>
          <a:p>
            <a:pPr>
              <a:spcBef>
                <a:spcPts val="600"/>
              </a:spcBef>
              <a:defRPr sz="1200">
                <a:solidFill>
                  <a:srgbClr val="FFFFFF"/>
                </a:solidFill>
              </a:defRPr>
            </a:pPr>
            <a:r>
              <a:t>Hosted at github.com/subashp-2104/SecureLLM-Shield for team collaboration.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Project Execution Workflow</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14 of 18</a:t>
            </a:r>
          </a:p>
        </p:txBody>
      </p:sp>
      <p:sp>
        <p:nvSpPr>
          <p:cNvPr id="6" name="Rounded Rectangle 5"/>
          <p:cNvSpPr/>
          <p:nvPr/>
        </p:nvSpPr>
        <p:spPr>
          <a:xfrm>
            <a:off x="731520" y="1828800"/>
            <a:ext cx="2514600" cy="29260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65960"/>
            <a:ext cx="2331720" cy="2651760"/>
          </a:xfrm>
          <a:prstGeom prst="rect">
            <a:avLst/>
          </a:prstGeom>
          <a:noFill/>
        </p:spPr>
        <p:txBody>
          <a:bodyPr wrap="square">
            <a:spAutoFit/>
          </a:bodyPr>
          <a:lstStyle/>
          <a:p>
            <a:pPr algn="ctr">
              <a:defRPr sz="1500" b="1">
                <a:solidFill>
                  <a:srgbClr val="00F2FE"/>
                </a:solidFill>
              </a:defRPr>
            </a:pPr>
            <a:r>
              <a:t>Step 1: Input Capture</a:t>
            </a:r>
          </a:p>
          <a:p>
            <a:pPr algn="ctr">
              <a:spcBef>
                <a:spcPts val="1400"/>
              </a:spcBef>
              <a:defRPr sz="1300">
                <a:solidFill>
                  <a:srgbClr val="FFFFFF"/>
                </a:solidFill>
              </a:defRPr>
            </a:pPr>
            <a:r>
              <a:t>User types or selects a prompt in the interactive Prompt Sandbox.</a:t>
            </a:r>
          </a:p>
        </p:txBody>
      </p:sp>
      <p:sp>
        <p:nvSpPr>
          <p:cNvPr id="8" name="Right Arrow 7"/>
          <p:cNvSpPr/>
          <p:nvPr/>
        </p:nvSpPr>
        <p:spPr>
          <a:xfrm>
            <a:off x="3264408" y="3108960"/>
            <a:ext cx="182880" cy="320040"/>
          </a:xfrm>
          <a:prstGeom prst="rightArrow">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56432" y="1828800"/>
            <a:ext cx="2514600" cy="29260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965960"/>
            <a:ext cx="2331720" cy="2651760"/>
          </a:xfrm>
          <a:prstGeom prst="rect">
            <a:avLst/>
          </a:prstGeom>
          <a:noFill/>
        </p:spPr>
        <p:txBody>
          <a:bodyPr wrap="square">
            <a:spAutoFit/>
          </a:bodyPr>
          <a:lstStyle/>
          <a:p>
            <a:pPr algn="ctr">
              <a:defRPr sz="1500" b="1">
                <a:solidFill>
                  <a:srgbClr val="00F2FE"/>
                </a:solidFill>
              </a:defRPr>
            </a:pPr>
            <a:r>
              <a:t>Step 2: Dual Scanning</a:t>
            </a:r>
          </a:p>
          <a:p>
            <a:pPr algn="ctr">
              <a:spcBef>
                <a:spcPts val="1400"/>
              </a:spcBef>
              <a:defRPr sz="1300">
                <a:solidFill>
                  <a:srgbClr val="FFFFFF"/>
                </a:solidFill>
              </a:defRPr>
            </a:pPr>
            <a:r>
              <a:t>High-speed Regex scans identity tags + Transformer NER extracts context spans.</a:t>
            </a:r>
          </a:p>
        </p:txBody>
      </p:sp>
      <p:sp>
        <p:nvSpPr>
          <p:cNvPr id="11" name="Right Arrow 10"/>
          <p:cNvSpPr/>
          <p:nvPr/>
        </p:nvSpPr>
        <p:spPr>
          <a:xfrm>
            <a:off x="5989320" y="3108960"/>
            <a:ext cx="182880" cy="320040"/>
          </a:xfrm>
          <a:prstGeom prst="rightArrow">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81344" y="1828800"/>
            <a:ext cx="2514600" cy="29260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2784" y="1965960"/>
            <a:ext cx="2331720" cy="2651760"/>
          </a:xfrm>
          <a:prstGeom prst="rect">
            <a:avLst/>
          </a:prstGeom>
          <a:noFill/>
        </p:spPr>
        <p:txBody>
          <a:bodyPr wrap="square">
            <a:spAutoFit/>
          </a:bodyPr>
          <a:lstStyle/>
          <a:p>
            <a:pPr algn="ctr">
              <a:defRPr sz="1500" b="1">
                <a:solidFill>
                  <a:srgbClr val="00F2FE"/>
                </a:solidFill>
              </a:defRPr>
            </a:pPr>
            <a:r>
              <a:t>Step 3: Mask &amp; Score</a:t>
            </a:r>
          </a:p>
          <a:p>
            <a:pPr algn="ctr">
              <a:spcBef>
                <a:spcPts val="1400"/>
              </a:spcBef>
              <a:defRPr sz="1300">
                <a:solidFill>
                  <a:srgbClr val="FFFFFF"/>
                </a:solidFill>
              </a:defRPr>
            </a:pPr>
            <a:r>
              <a:t>Sensitive spans masked (e.g. Aadhaar) &amp; Risk score (0-100%) calculated.</a:t>
            </a:r>
          </a:p>
        </p:txBody>
      </p:sp>
      <p:sp>
        <p:nvSpPr>
          <p:cNvPr id="14" name="Right Arrow 13"/>
          <p:cNvSpPr/>
          <p:nvPr/>
        </p:nvSpPr>
        <p:spPr>
          <a:xfrm>
            <a:off x="8714232" y="3108960"/>
            <a:ext cx="182880" cy="320040"/>
          </a:xfrm>
          <a:prstGeom prst="rightArrow">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06256" y="1828800"/>
            <a:ext cx="2514600" cy="2926080"/>
          </a:xfrm>
          <a:prstGeom prst="roundRect">
            <a:avLst/>
          </a:prstGeom>
          <a:solidFill>
            <a:srgbClr val="1C2541"/>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97696" y="1965960"/>
            <a:ext cx="2331720" cy="2651760"/>
          </a:xfrm>
          <a:prstGeom prst="rect">
            <a:avLst/>
          </a:prstGeom>
          <a:noFill/>
        </p:spPr>
        <p:txBody>
          <a:bodyPr wrap="square">
            <a:spAutoFit/>
          </a:bodyPr>
          <a:lstStyle/>
          <a:p>
            <a:pPr algn="ctr">
              <a:defRPr sz="1500" b="1">
                <a:solidFill>
                  <a:srgbClr val="00F2FE"/>
                </a:solidFill>
              </a:defRPr>
            </a:pPr>
            <a:r>
              <a:t>Step 4: Audit &amp; Route</a:t>
            </a:r>
          </a:p>
          <a:p>
            <a:pPr algn="ctr">
              <a:spcBef>
                <a:spcPts val="1400"/>
              </a:spcBef>
              <a:defRPr sz="1300">
                <a:solidFill>
                  <a:srgbClr val="FFFFFF"/>
                </a:solidFill>
              </a:defRPr>
            </a:pPr>
            <a:r>
              <a:t>Sanitized prompt sent to LLM + Event saved to Cryptographic Audit Ledger.</a:t>
            </a:r>
          </a:p>
        </p:txBody>
      </p:sp>
      <p:sp>
        <p:nvSpPr>
          <p:cNvPr id="17" name="Rounded Rectangle 16"/>
          <p:cNvSpPr/>
          <p:nvPr/>
        </p:nvSpPr>
        <p:spPr>
          <a:xfrm>
            <a:off x="731520" y="5029200"/>
            <a:ext cx="10698480" cy="1005840"/>
          </a:xfrm>
          <a:prstGeom prst="roundRect">
            <a:avLst/>
          </a:prstGeom>
          <a:solidFill>
            <a:srgbClr val="1C2541"/>
          </a:solidFill>
          <a:ln w="12700">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9FF14"/>
                </a:solidFill>
              </a:defRPr>
            </a:pPr>
            <a:r>
              <a:t>⚡ End-to-End Processing Time: &lt; 50ms per prompt request with 100% data confidentiality.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Advantages of the System</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15 of 18</a:t>
            </a:r>
          </a:p>
        </p:txBody>
      </p:sp>
      <p:sp>
        <p:nvSpPr>
          <p:cNvPr id="6" name="Rounded Rectangle 5"/>
          <p:cNvSpPr/>
          <p:nvPr/>
        </p:nvSpPr>
        <p:spPr>
          <a:xfrm>
            <a:off x="731520" y="1463040"/>
            <a:ext cx="10698480" cy="804672"/>
          </a:xfrm>
          <a:prstGeom prst="roundRect">
            <a:avLst/>
          </a:prstGeom>
          <a:solidFill>
            <a:srgbClr val="1C2541"/>
          </a:solidFill>
          <a:ln w="1270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10149840" cy="658368"/>
          </a:xfrm>
          <a:prstGeom prst="rect">
            <a:avLst/>
          </a:prstGeom>
          <a:noFill/>
        </p:spPr>
        <p:txBody>
          <a:bodyPr wrap="square">
            <a:spAutoFit/>
          </a:bodyPr>
          <a:lstStyle/>
          <a:p>
            <a:r>
              <a:rPr b="1" sz="1500">
                <a:solidFill>
                  <a:srgbClr val="39FF14"/>
                </a:solidFill>
              </a:rPr>
              <a:t>✅ 100% Data Privacy Protection: </a:t>
            </a:r>
            <a:r>
              <a:rPr sz="1400">
                <a:solidFill>
                  <a:srgbClr val="FFFFFF"/>
                </a:solidFill>
              </a:rPr>
              <a:t>Prevents accidental leakage of confidential Indian identity tags and financial data.</a:t>
            </a:r>
          </a:p>
        </p:txBody>
      </p:sp>
      <p:sp>
        <p:nvSpPr>
          <p:cNvPr id="8" name="Rounded Rectangle 7"/>
          <p:cNvSpPr/>
          <p:nvPr/>
        </p:nvSpPr>
        <p:spPr>
          <a:xfrm>
            <a:off x="731520" y="2395728"/>
            <a:ext cx="10698480" cy="804672"/>
          </a:xfrm>
          <a:prstGeom prst="roundRect">
            <a:avLst/>
          </a:prstGeom>
          <a:solidFill>
            <a:srgbClr val="1C2541"/>
          </a:solidFill>
          <a:ln w="1270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149840" cy="658368"/>
          </a:xfrm>
          <a:prstGeom prst="rect">
            <a:avLst/>
          </a:prstGeom>
          <a:noFill/>
        </p:spPr>
        <p:txBody>
          <a:bodyPr wrap="square">
            <a:spAutoFit/>
          </a:bodyPr>
          <a:lstStyle/>
          <a:p>
            <a:r>
              <a:rPr b="1" sz="1500">
                <a:solidFill>
                  <a:srgbClr val="39FF14"/>
                </a:solidFill>
              </a:rPr>
              <a:t>✅ Context-Preserving Masking: </a:t>
            </a:r>
            <a:r>
              <a:rPr sz="1400">
                <a:solidFill>
                  <a:srgbClr val="FFFFFF"/>
                </a:solidFill>
              </a:rPr>
              <a:t>Keeps AI responses accurate without ruining sentence structure or meaning.</a:t>
            </a:r>
          </a:p>
        </p:txBody>
      </p:sp>
      <p:sp>
        <p:nvSpPr>
          <p:cNvPr id="10" name="Rounded Rectangle 9"/>
          <p:cNvSpPr/>
          <p:nvPr/>
        </p:nvSpPr>
        <p:spPr>
          <a:xfrm>
            <a:off x="731520" y="3328416"/>
            <a:ext cx="10698480" cy="804672"/>
          </a:xfrm>
          <a:prstGeom prst="roundRect">
            <a:avLst/>
          </a:prstGeom>
          <a:solidFill>
            <a:srgbClr val="1C2541"/>
          </a:solidFill>
          <a:ln w="1270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01568"/>
            <a:ext cx="10149840" cy="658368"/>
          </a:xfrm>
          <a:prstGeom prst="rect">
            <a:avLst/>
          </a:prstGeom>
          <a:noFill/>
        </p:spPr>
        <p:txBody>
          <a:bodyPr wrap="square">
            <a:spAutoFit/>
          </a:bodyPr>
          <a:lstStyle/>
          <a:p>
            <a:r>
              <a:rPr b="1" sz="1500">
                <a:solidFill>
                  <a:srgbClr val="39FF14"/>
                </a:solidFill>
              </a:rPr>
              <a:t>✅ Ultra-Fast Performance: </a:t>
            </a:r>
            <a:r>
              <a:rPr sz="1400">
                <a:solidFill>
                  <a:srgbClr val="FFFFFF"/>
                </a:solidFill>
              </a:rPr>
              <a:t>Executes full multi-stage detection in under 50ms with zero noticeable delay.</a:t>
            </a:r>
          </a:p>
        </p:txBody>
      </p:sp>
      <p:sp>
        <p:nvSpPr>
          <p:cNvPr id="12" name="Rounded Rectangle 11"/>
          <p:cNvSpPr/>
          <p:nvPr/>
        </p:nvSpPr>
        <p:spPr>
          <a:xfrm>
            <a:off x="731520" y="4261104"/>
            <a:ext cx="10698480" cy="804672"/>
          </a:xfrm>
          <a:prstGeom prst="roundRect">
            <a:avLst/>
          </a:prstGeom>
          <a:solidFill>
            <a:srgbClr val="1C2541"/>
          </a:solidFill>
          <a:ln w="1270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149840" cy="658368"/>
          </a:xfrm>
          <a:prstGeom prst="rect">
            <a:avLst/>
          </a:prstGeom>
          <a:noFill/>
        </p:spPr>
        <p:txBody>
          <a:bodyPr wrap="square">
            <a:spAutoFit/>
          </a:bodyPr>
          <a:lstStyle/>
          <a:p>
            <a:r>
              <a:rPr b="1" sz="1500">
                <a:solidFill>
                  <a:srgbClr val="39FF14"/>
                </a:solidFill>
              </a:rPr>
              <a:t>✅ Regulatory Compliance Pre-Aligned: </a:t>
            </a:r>
            <a:r>
              <a:rPr sz="1400">
                <a:solidFill>
                  <a:srgbClr val="FFFFFF"/>
                </a:solidFill>
              </a:rPr>
              <a:t>Supports GDPR, HIPAA, and DPDP Act 2023 data protection standards.</a:t>
            </a:r>
          </a:p>
        </p:txBody>
      </p:sp>
      <p:sp>
        <p:nvSpPr>
          <p:cNvPr id="14" name="Rounded Rectangle 13"/>
          <p:cNvSpPr/>
          <p:nvPr/>
        </p:nvSpPr>
        <p:spPr>
          <a:xfrm>
            <a:off x="731520" y="5193792"/>
            <a:ext cx="10698480" cy="804672"/>
          </a:xfrm>
          <a:prstGeom prst="roundRect">
            <a:avLst/>
          </a:prstGeom>
          <a:solidFill>
            <a:srgbClr val="1C2541"/>
          </a:solidFill>
          <a:ln w="1270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266944"/>
            <a:ext cx="10149840" cy="658368"/>
          </a:xfrm>
          <a:prstGeom prst="rect">
            <a:avLst/>
          </a:prstGeom>
          <a:noFill/>
        </p:spPr>
        <p:txBody>
          <a:bodyPr wrap="square">
            <a:spAutoFit/>
          </a:bodyPr>
          <a:lstStyle/>
          <a:p>
            <a:r>
              <a:rPr b="1" sz="1500">
                <a:solidFill>
                  <a:srgbClr val="39FF14"/>
                </a:solidFill>
              </a:rPr>
              <a:t>✅ Interactive User Dashboard: </a:t>
            </a:r>
            <a:r>
              <a:rPr sz="1400">
                <a:solidFill>
                  <a:srgbClr val="FFFFFF"/>
                </a:solidFill>
              </a:rPr>
              <a:t>Includes live threat charts, Red Team cyber range simulator, and Security Copilot assistant.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Future Enhancements</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16 of 18</a:t>
            </a:r>
          </a:p>
        </p:txBody>
      </p:sp>
      <p:sp>
        <p:nvSpPr>
          <p:cNvPr id="6" name="Rounded Rectangle 5"/>
          <p:cNvSpPr/>
          <p:nvPr/>
        </p:nvSpPr>
        <p:spPr>
          <a:xfrm>
            <a:off x="731520" y="1463040"/>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10149840" cy="658368"/>
          </a:xfrm>
          <a:prstGeom prst="rect">
            <a:avLst/>
          </a:prstGeom>
          <a:noFill/>
        </p:spPr>
        <p:txBody>
          <a:bodyPr wrap="square">
            <a:spAutoFit/>
          </a:bodyPr>
          <a:lstStyle/>
          <a:p>
            <a:r>
              <a:rPr b="1" sz="1500">
                <a:solidFill>
                  <a:srgbClr val="00F2FE"/>
                </a:solidFill>
              </a:rPr>
              <a:t>🚀 Multimodal AI Support:</a:t>
            </a:r>
            <a:r>
              <a:rPr sz="1400">
                <a:solidFill>
                  <a:srgbClr val="FFFFFF"/>
                </a:solidFill>
              </a:rPr>
              <a:t> Add real-time image OCR and audio scanning for multimodal LLM inputs.</a:t>
            </a:r>
          </a:p>
        </p:txBody>
      </p:sp>
      <p:sp>
        <p:nvSpPr>
          <p:cNvPr id="8" name="Rounded Rectangle 7"/>
          <p:cNvSpPr/>
          <p:nvPr/>
        </p:nvSpPr>
        <p:spPr>
          <a:xfrm>
            <a:off x="731520" y="2395728"/>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149840" cy="658368"/>
          </a:xfrm>
          <a:prstGeom prst="rect">
            <a:avLst/>
          </a:prstGeom>
          <a:noFill/>
        </p:spPr>
        <p:txBody>
          <a:bodyPr wrap="square">
            <a:spAutoFit/>
          </a:bodyPr>
          <a:lstStyle/>
          <a:p>
            <a:r>
              <a:rPr b="1" sz="1500">
                <a:solidFill>
                  <a:srgbClr val="00F2FE"/>
                </a:solidFill>
              </a:rPr>
              <a:t>🚀 Browser Extension Integration:</a:t>
            </a:r>
            <a:r>
              <a:rPr sz="1400">
                <a:solidFill>
                  <a:srgbClr val="FFFFFF"/>
                </a:solidFill>
              </a:rPr>
              <a:t> Develop Chrome / Edge extension to auto-sanitize ChatGPT &amp; Claude web UI.</a:t>
            </a:r>
          </a:p>
        </p:txBody>
      </p:sp>
      <p:sp>
        <p:nvSpPr>
          <p:cNvPr id="10" name="Rounded Rectangle 9"/>
          <p:cNvSpPr/>
          <p:nvPr/>
        </p:nvSpPr>
        <p:spPr>
          <a:xfrm>
            <a:off x="731520" y="3328416"/>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01568"/>
            <a:ext cx="10149840" cy="658368"/>
          </a:xfrm>
          <a:prstGeom prst="rect">
            <a:avLst/>
          </a:prstGeom>
          <a:noFill/>
        </p:spPr>
        <p:txBody>
          <a:bodyPr wrap="square">
            <a:spAutoFit/>
          </a:bodyPr>
          <a:lstStyle/>
          <a:p>
            <a:r>
              <a:rPr b="1" sz="1500">
                <a:solidFill>
                  <a:srgbClr val="00F2FE"/>
                </a:solidFill>
              </a:rPr>
              <a:t>🚀 Advanced Homomorphic Encryption:</a:t>
            </a:r>
            <a:r>
              <a:rPr sz="1400">
                <a:solidFill>
                  <a:srgbClr val="FFFFFF"/>
                </a:solidFill>
              </a:rPr>
              <a:t> Expand zero-knowledge encrypted computation for cloud LLM servers.</a:t>
            </a:r>
          </a:p>
        </p:txBody>
      </p:sp>
      <p:sp>
        <p:nvSpPr>
          <p:cNvPr id="12" name="Rounded Rectangle 11"/>
          <p:cNvSpPr/>
          <p:nvPr/>
        </p:nvSpPr>
        <p:spPr>
          <a:xfrm>
            <a:off x="731520" y="4261104"/>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149840" cy="658368"/>
          </a:xfrm>
          <a:prstGeom prst="rect">
            <a:avLst/>
          </a:prstGeom>
          <a:noFill/>
        </p:spPr>
        <p:txBody>
          <a:bodyPr wrap="square">
            <a:spAutoFit/>
          </a:bodyPr>
          <a:lstStyle/>
          <a:p>
            <a:r>
              <a:rPr b="1" sz="1500">
                <a:solidFill>
                  <a:srgbClr val="00F2FE"/>
                </a:solidFill>
              </a:rPr>
              <a:t>🚀 Hardware Security Module (HSM):</a:t>
            </a:r>
            <a:r>
              <a:rPr sz="1400">
                <a:solidFill>
                  <a:srgbClr val="FFFFFF"/>
                </a:solidFill>
              </a:rPr>
              <a:t> Integrate hardware key storage for enterprise-grade server deployment.</a:t>
            </a:r>
          </a:p>
        </p:txBody>
      </p:sp>
      <p:sp>
        <p:nvSpPr>
          <p:cNvPr id="14" name="Rounded Rectangle 13"/>
          <p:cNvSpPr/>
          <p:nvPr/>
        </p:nvSpPr>
        <p:spPr>
          <a:xfrm>
            <a:off x="731520" y="5193792"/>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266944"/>
            <a:ext cx="10149840" cy="658368"/>
          </a:xfrm>
          <a:prstGeom prst="rect">
            <a:avLst/>
          </a:prstGeom>
          <a:noFill/>
        </p:spPr>
        <p:txBody>
          <a:bodyPr wrap="square">
            <a:spAutoFit/>
          </a:bodyPr>
          <a:lstStyle/>
          <a:p>
            <a:r>
              <a:rPr b="1" sz="1500">
                <a:solidFill>
                  <a:srgbClr val="00F2FE"/>
                </a:solidFill>
              </a:rPr>
              <a:t>🚀 Automated Compliance Reports:</a:t>
            </a:r>
            <a:r>
              <a:rPr sz="1400">
                <a:solidFill>
                  <a:srgbClr val="FFFFFF"/>
                </a:solidFill>
              </a:rPr>
              <a:t> Add one-click PDF / CSV audit report generator for compliance officers.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0F2FE"/>
                </a:solidFill>
                <a:latin typeface="Calibri"/>
              </a:defRPr>
            </a:pPr>
            <a:r>
              <a:t>SECURELLM SHIELD | PROJECT REVIEW</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FFFFF"/>
                </a:solidFill>
                <a:latin typeface="Calibri"/>
              </a:defRPr>
            </a:pPr>
            <a:r>
              <a:t>Conclusion</a:t>
            </a:r>
          </a:p>
        </p:txBody>
      </p:sp>
      <p:sp>
        <p:nvSpPr>
          <p:cNvPr id="5" name="TextBox 4"/>
          <p:cNvSpPr txBox="1"/>
          <p:nvPr/>
        </p:nvSpPr>
        <p:spPr>
          <a:xfrm>
            <a:off x="731520" y="6400800"/>
            <a:ext cx="10698480" cy="365760"/>
          </a:xfrm>
          <a:prstGeom prst="rect">
            <a:avLst/>
          </a:prstGeom>
          <a:noFill/>
        </p:spPr>
        <p:txBody>
          <a:bodyPr wrap="none">
            <a:spAutoFit/>
          </a:bodyPr>
          <a:lstStyle/>
          <a:p>
            <a:pPr>
              <a:defRPr sz="1000">
                <a:solidFill>
                  <a:srgbClr val="8D99AE"/>
                </a:solidFill>
                <a:latin typeface="Calibri"/>
              </a:defRPr>
            </a:pPr>
            <a:r>
              <a:t>SecureLLM Shield Presentation  |  Department of AI &amp; ML  |  Slide 17 of 18</a:t>
            </a:r>
          </a:p>
        </p:txBody>
      </p:sp>
      <p:sp>
        <p:nvSpPr>
          <p:cNvPr id="6" name="Rounded Rectangle 5"/>
          <p:cNvSpPr/>
          <p:nvPr/>
        </p:nvSpPr>
        <p:spPr>
          <a:xfrm>
            <a:off x="731520" y="1463040"/>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36192"/>
            <a:ext cx="10149840" cy="658368"/>
          </a:xfrm>
          <a:prstGeom prst="rect">
            <a:avLst/>
          </a:prstGeom>
          <a:noFill/>
        </p:spPr>
        <p:txBody>
          <a:bodyPr wrap="square">
            <a:spAutoFit/>
          </a:bodyPr>
          <a:lstStyle/>
          <a:p>
            <a:r>
              <a:rPr sz="1400">
                <a:solidFill>
                  <a:srgbClr val="FFFFFF"/>
                </a:solidFill>
              </a:rPr>
              <a:t>📌 SecureLLM Shield successfully solves the critical problem of privacy leakage in Large Language Models.</a:t>
            </a:r>
          </a:p>
        </p:txBody>
      </p:sp>
      <p:sp>
        <p:nvSpPr>
          <p:cNvPr id="8" name="Rounded Rectangle 7"/>
          <p:cNvSpPr/>
          <p:nvPr/>
        </p:nvSpPr>
        <p:spPr>
          <a:xfrm>
            <a:off x="731520" y="2395728"/>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149840" cy="658368"/>
          </a:xfrm>
          <a:prstGeom prst="rect">
            <a:avLst/>
          </a:prstGeom>
          <a:noFill/>
        </p:spPr>
        <p:txBody>
          <a:bodyPr wrap="square">
            <a:spAutoFit/>
          </a:bodyPr>
          <a:lstStyle/>
          <a:p>
            <a:r>
              <a:rPr sz="1400">
                <a:solidFill>
                  <a:srgbClr val="FFFFFF"/>
                </a:solidFill>
              </a:rPr>
              <a:t>📌 Combines 20-entity PII detection, context-preserving partial masking, and prompt injection defense.</a:t>
            </a:r>
          </a:p>
        </p:txBody>
      </p:sp>
      <p:sp>
        <p:nvSpPr>
          <p:cNvPr id="10" name="Rounded Rectangle 9"/>
          <p:cNvSpPr/>
          <p:nvPr/>
        </p:nvSpPr>
        <p:spPr>
          <a:xfrm>
            <a:off x="731520" y="3328416"/>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01568"/>
            <a:ext cx="10149840" cy="658368"/>
          </a:xfrm>
          <a:prstGeom prst="rect">
            <a:avLst/>
          </a:prstGeom>
          <a:noFill/>
        </p:spPr>
        <p:txBody>
          <a:bodyPr wrap="square">
            <a:spAutoFit/>
          </a:bodyPr>
          <a:lstStyle/>
          <a:p>
            <a:r>
              <a:rPr sz="1400">
                <a:solidFill>
                  <a:srgbClr val="FFFFFF"/>
                </a:solidFill>
              </a:rPr>
              <a:t>📌 Provides enterprise-grade audit logging with SHA-256 cryptographic chain verification.</a:t>
            </a:r>
          </a:p>
        </p:txBody>
      </p:sp>
      <p:sp>
        <p:nvSpPr>
          <p:cNvPr id="12" name="Rounded Rectangle 11"/>
          <p:cNvSpPr/>
          <p:nvPr/>
        </p:nvSpPr>
        <p:spPr>
          <a:xfrm>
            <a:off x="731520" y="4261104"/>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34256"/>
            <a:ext cx="10149840" cy="658368"/>
          </a:xfrm>
          <a:prstGeom prst="rect">
            <a:avLst/>
          </a:prstGeom>
          <a:noFill/>
        </p:spPr>
        <p:txBody>
          <a:bodyPr wrap="square">
            <a:spAutoFit/>
          </a:bodyPr>
          <a:lstStyle/>
          <a:p>
            <a:r>
              <a:rPr sz="1400">
                <a:solidFill>
                  <a:srgbClr val="FFFFFF"/>
                </a:solidFill>
              </a:rPr>
              <a:t>📌 Proven 0% bypass rate under automated 1,000-payload Red Team cyber range attack campaigns.</a:t>
            </a:r>
          </a:p>
        </p:txBody>
      </p:sp>
      <p:sp>
        <p:nvSpPr>
          <p:cNvPr id="14" name="Rounded Rectangle 13"/>
          <p:cNvSpPr/>
          <p:nvPr/>
        </p:nvSpPr>
        <p:spPr>
          <a:xfrm>
            <a:off x="731520" y="5193792"/>
            <a:ext cx="10698480" cy="804672"/>
          </a:xfrm>
          <a:prstGeom prst="roundRect">
            <a:avLst/>
          </a:prstGeom>
          <a:solidFill>
            <a:srgbClr val="1C2541"/>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266944"/>
            <a:ext cx="10149840" cy="658368"/>
          </a:xfrm>
          <a:prstGeom prst="rect">
            <a:avLst/>
          </a:prstGeom>
          <a:noFill/>
        </p:spPr>
        <p:txBody>
          <a:bodyPr wrap="square">
            <a:spAutoFit/>
          </a:bodyPr>
          <a:lstStyle/>
          <a:p>
            <a:r>
              <a:rPr sz="1400">
                <a:solidFill>
                  <a:srgbClr val="FFFFFF"/>
                </a:solidFill>
              </a:rPr>
              <a:t>📌 Offers a scalable, ultra-fast security gateway for safe enterprise AI deployment.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1C2541"/>
          </a:solidFill>
          <a:ln w="254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463040"/>
            <a:ext cx="9448495" cy="3931920"/>
          </a:xfrm>
          <a:prstGeom prst="rect">
            <a:avLst/>
          </a:prstGeom>
          <a:noFill/>
        </p:spPr>
        <p:txBody>
          <a:bodyPr wrap="square">
            <a:spAutoFit/>
          </a:bodyPr>
          <a:lstStyle/>
          <a:p>
            <a:pPr algn="ctr">
              <a:defRPr sz="4400" b="1">
                <a:solidFill>
                  <a:srgbClr val="00F2FE"/>
                </a:solidFill>
              </a:defRPr>
            </a:pPr>
            <a:r>
              <a:t>Thank You!</a:t>
            </a:r>
          </a:p>
          <a:p>
            <a:pPr algn="ctr">
              <a:spcBef>
                <a:spcPts val="1000"/>
              </a:spcBef>
              <a:defRPr sz="2200">
                <a:solidFill>
                  <a:srgbClr val="FFFFFF"/>
                </a:solidFill>
              </a:defRPr>
            </a:pPr>
            <a:r>
              <a:t>Questions &amp; Discussion</a:t>
            </a:r>
          </a:p>
          <a:p>
            <a:pPr algn="ctr">
              <a:spcBef>
                <a:spcPts val="2000"/>
              </a:spcBef>
              <a:defRPr sz="1400">
                <a:solidFill>
                  <a:srgbClr val="48CAE4"/>
                </a:solidFill>
              </a:defRPr>
            </a:pPr>
            <a:r>
              <a:t>SecureLLM Shield: Privacy Threat Detection &amp; Migration Framework for LLMs</a:t>
            </a:r>
          </a:p>
          <a:p>
            <a:pPr algn="ctr">
              <a:spcBef>
                <a:spcPts val="1200"/>
              </a:spcBef>
              <a:defRPr sz="1400" b="1">
                <a:solidFill>
                  <a:srgbClr val="FFFFFF"/>
                </a:solidFill>
              </a:defRPr>
            </a:pPr>
            <a:r>
              <a:t>Team Members: BARATHKUMAR M &amp; SUBASH P  |  Dept of AI &amp; ML</a:t>
            </a:r>
          </a:p>
          <a:p>
            <a:pPr algn="ctr">
              <a:spcBef>
                <a:spcPts val="1600"/>
              </a:spcBef>
              <a:defRPr sz="1300">
                <a:solidFill>
                  <a:srgbClr val="8D99AE"/>
                </a:solidFill>
              </a:defRPr>
            </a:pPr>
            <a:r>
              <a:t>GitHub Repository: https://github.com/subashp-2104/SecureLLM-Shield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